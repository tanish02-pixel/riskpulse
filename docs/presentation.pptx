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5a1914cc6e540fd" /><Relationship Type="http://schemas.openxmlformats.org/officeDocument/2006/relationships/extended-properties" Target="/docProps/app.xml" Id="Rd905a1a6ef614b71" /><Relationship Type="http://schemas.openxmlformats.org/officeDocument/2006/relationships/officeDocument" Target="/ppt/presentation.xml" Id="R2b62ec94ae2b4b93" /></Relationships>
</file>

<file path=ppt/presentation.xml><?xml version="1.0" encoding="utf-8"?>
<p:presentation xmlns:p="http://schemas.openxmlformats.org/presentationml/2006/main">
  <p:sldMasterIdLst>
    <p:sldMasterId xmlns:r="http://schemas.openxmlformats.org/officeDocument/2006/relationships" id="2147483648" r:id="R8588af382aa047d3"/>
  </p:sldMasterIdLst>
  <p:notesMasterIdLst>
    <p:notesMasterId xmlns:r="http://schemas.openxmlformats.org/officeDocument/2006/relationships" r:id="R44847c71aa574bcf"/>
  </p:notesMasterIdLst>
  <p:sldIdLst>
    <p:sldId xmlns:r="http://schemas.openxmlformats.org/officeDocument/2006/relationships" id="256" r:id="R0a7fed4bea434d08"/>
    <p:sldId xmlns:r="http://schemas.openxmlformats.org/officeDocument/2006/relationships" id="257" r:id="R247bdc32f3414cc4"/>
    <p:sldId xmlns:r="http://schemas.openxmlformats.org/officeDocument/2006/relationships" id="258" r:id="Ra9e24d542d144648"/>
    <p:sldId xmlns:r="http://schemas.openxmlformats.org/officeDocument/2006/relationships" id="259" r:id="Re40121aac8ec4c83"/>
    <p:sldId xmlns:r="http://schemas.openxmlformats.org/officeDocument/2006/relationships" id="260" r:id="Rae7ed350254f4ddd"/>
    <p:sldId xmlns:r="http://schemas.openxmlformats.org/officeDocument/2006/relationships" id="261" r:id="Ra97da0d358db44af"/>
    <p:sldId xmlns:r="http://schemas.openxmlformats.org/officeDocument/2006/relationships" id="262" r:id="Ree0837551e5145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100b2d5d8a4d58" /><Relationship Type="http://schemas.openxmlformats.org/officeDocument/2006/relationships/slideMaster" Target="/ppt/slideMasters/slideMaster1.xml" Id="R8588af382aa047d3" /><Relationship Type="http://schemas.openxmlformats.org/officeDocument/2006/relationships/notesMaster" Target="/ppt/notesMasters/notesMaster1.xml" Id="R44847c71aa574bcf" /><Relationship Type="http://schemas.openxmlformats.org/officeDocument/2006/relationships/presProps" Target="/ppt/presProps.xml" Id="R2fe2f3f18b194589" /><Relationship Type="http://schemas.openxmlformats.org/officeDocument/2006/relationships/tableStyles" Target="/ppt/tableStyles.xml" Id="Rfcd3c19bd21b4257" /><Relationship Type="http://schemas.openxmlformats.org/officeDocument/2006/relationships/slide" Target="/ppt/slides/slide1.xml" Id="R0a7fed4bea434d08" /><Relationship Type="http://schemas.openxmlformats.org/officeDocument/2006/relationships/slide" Target="/ppt/slides/slide2.xml" Id="R247bdc32f3414cc4" /><Relationship Type="http://schemas.openxmlformats.org/officeDocument/2006/relationships/slide" Target="/ppt/slides/slide3.xml" Id="Ra9e24d542d144648" /><Relationship Type="http://schemas.openxmlformats.org/officeDocument/2006/relationships/slide" Target="/ppt/slides/slide4.xml" Id="Re40121aac8ec4c83" /><Relationship Type="http://schemas.openxmlformats.org/officeDocument/2006/relationships/slide" Target="/ppt/slides/slide5.xml" Id="Rae7ed350254f4ddd" /><Relationship Type="http://schemas.openxmlformats.org/officeDocument/2006/relationships/slide" Target="/ppt/slides/slide6.xml" Id="Ra97da0d358db44af" /><Relationship Type="http://schemas.openxmlformats.org/officeDocument/2006/relationships/slide" Target="/ppt/slides/slide7.xml" Id="Ree0837551e5145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10ee7a65064d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10f36c85d34193" /><Relationship Type="http://schemas.openxmlformats.org/officeDocument/2006/relationships/notesMaster" Target="/ppt/notesMasters/notesMaster1.xml" Id="R171ee77261b141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6c3e0e9bb14113" /><Relationship Type="http://schemas.openxmlformats.org/officeDocument/2006/relationships/notesMaster" Target="/ppt/notesMasters/notesMaster1.xml" Id="R0b733e78215d4a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d3e86ca02d4726" /><Relationship Type="http://schemas.openxmlformats.org/officeDocument/2006/relationships/notesMaster" Target="/ppt/notesMasters/notesMaster1.xml" Id="R5a848bd112bd45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a4e7e4e7de4d40" /><Relationship Type="http://schemas.openxmlformats.org/officeDocument/2006/relationships/notesMaster" Target="/ppt/notesMasters/notesMaster1.xml" Id="R7d90c6eec4ed4d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dcfa692a834f9b" /><Relationship Type="http://schemas.openxmlformats.org/officeDocument/2006/relationships/notesMaster" Target="/ppt/notesMasters/notesMaster1.xml" Id="R935df132597540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8d8276eea84cbf" /><Relationship Type="http://schemas.openxmlformats.org/officeDocument/2006/relationships/notesMaster" Target="/ppt/notesMasters/notesMaster1.xml" Id="Reed3491fa3d14b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71dd043be54077" /><Relationship Type="http://schemas.openxmlformats.org/officeDocument/2006/relationships/notesMaster" Target="/ppt/notesMasters/notesMaster1.xml" Id="R21e3174af34c45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RiskPulse implements the hackathon core engine and Module A. Presenter attribution should be checked against the official team details before submission. Image: Andrea De Santis, Unsplash, https://unsplash.com/photos/a-group-of-buildings-that-are-next-to-each-other-cV8BIJolid4 . Decorative architecture photograph.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case study text supplied by the participant. Requirement: at least two text sources, the unified risk engine, and at least one downstream module. RiskPulse selects Module A. Sentiment and event outputs are observable text classifications, while severity remains an uncalibrated proxy.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src/riskpulse/feeds.py, engine.py, storage.py, portfolio.py, app.py and frontend/src/main.jsx. BBC news and Apple/Microsoft company feeds supply independent text-source types. Event/impact rules remain separate from FinBERT sentiment. SQLite holds live and replay histories in separate modes. The prototype uses one server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actual output from the synthetic replay fixture for JPMorgan. The complete body is: A credit downgrade follows default concerns at the company. FinBERT revision 4556d13015211d73dccd3fdd39d39232506f3e43 produced sentiment -0.9585, negative probability/confidence 0.9673. Event phrase rules returned Credit Event. Severity used baseline 7 + two cues + strong sentiment adjustment 1 = 10. Severity is not calibrated to price changes. Model: https://huggingface.co/ProsusAI/finbert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actual local replay output in docs/replay_allocation_result.json. Twelve fictional events, FinBERT active. Values are portfolio weights, not realized returns. The exact saved values sum to 1. Chart fractions are rounded to six decimals for an Excel-compatible embedded workbook. Equal-weight baseline is 0.1 each. Normal update constraints are 2% minimum, 18% maximum and 10% one-way turnover. Replaying at a different time can produce tiny recency differences. No trading-performance claim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tests/ (28 passed on 8 October 2026), docs/live_connector_validation.json (BBC 20, Apple 20, Microsoft 10), and docs/evaluation_results.json. Evaluation uses 24 separately authored synthetic sanity cases, eight per sentiment class, not a held-out real-news dataset. No new model training or tuning occurred. Mean engine analysis 80.47 ms and sample p95 95.44 ms, already-loaded model on CPU. Network/model startup excluded. Browser UI, Windows launcher and Docker execution were unavailable for validation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implementation covers the unified engine and Module A. Module B is not implemented. Future work proposes independently labeled real-news evaluation, better entity/event modeling, impact calibration, and backtests with transaction costs. No proposal is claimed complete. AI assistance is disclosed in AI_USAGE.md and must comply with the organizer rules. Presenter must personally review the code, run the app and confirm team attribution.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b723a09cbc4f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06b91178f448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adbe36193614e8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0c8dcfdda54c3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de643819d0141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c4ac5ee17243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3E5108-A0D8-491F-9E0A-2DC8B621B60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E90C776-AE9B-424B-BFC4-564B62E9783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2B2770-46AA-45A2-ACDC-D58A90FA1BE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64A5B8-7149-4185-B0C7-EB2D7723BC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D5AF7D-B2E9-4D53-A6DC-B1F3A1ABE92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779374B-A382-470B-92FF-C799289EF2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EE8CDA-B597-4BF4-A753-14BB0CAEC8B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11699C4-7589-41E8-B3D8-5A1F6A728D4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08F088-DE2F-4188-92E9-18017170BB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9CA97F-F643-4326-B155-48B80C010B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18efcc06bb4743" /><Relationship Type="http://schemas.openxmlformats.org/officeDocument/2006/relationships/slideLayout" Target="/ppt/slideLayouts/slideLayout1.xml" Id="R8ebc82c7fdee4f21" /><Relationship Type="http://schemas.openxmlformats.org/officeDocument/2006/relationships/slideLayout" Target="/ppt/slideLayouts/slideLayout2.xml" Id="Rdf7cecdc65484ced" /><Relationship Type="http://schemas.openxmlformats.org/officeDocument/2006/relationships/slideLayout" Target="/ppt/slideLayouts/slideLayout3.xml" Id="Rd5c0271fb8cd43da" /><Relationship Type="http://schemas.openxmlformats.org/officeDocument/2006/relationships/slideLayout" Target="/ppt/slideLayouts/slideLayout4.xml" Id="R20d85f515ef047a8" /><Relationship Type="http://schemas.openxmlformats.org/officeDocument/2006/relationships/slideLayout" Target="/ppt/slideLayouts/slideLayout5.xml" Id="R34fa5ebe1c09498c" /><Relationship Type="http://schemas.openxmlformats.org/officeDocument/2006/relationships/slideLayout" Target="/ppt/slideLayouts/slideLayout6.xml" Id="R43565545242f43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bc82c7fdee4f21"/>
    <p:sldLayoutId xmlns:r="http://schemas.openxmlformats.org/officeDocument/2006/relationships" id="2147483650" r:id="Rdf7cecdc65484ced"/>
    <p:sldLayoutId xmlns:r="http://schemas.openxmlformats.org/officeDocument/2006/relationships" id="2147483651" r:id="Rd5c0271fb8cd43da"/>
    <p:sldLayoutId xmlns:r="http://schemas.openxmlformats.org/officeDocument/2006/relationships" id="2147483652" r:id="R20d85f515ef047a8"/>
    <p:sldLayoutId xmlns:r="http://schemas.openxmlformats.org/officeDocument/2006/relationships" id="2147483653" r:id="R34fa5ebe1c09498c"/>
    <p:sldLayoutId xmlns:r="http://schemas.openxmlformats.org/officeDocument/2006/relationships" id="2147483654" r:id="R43565545242f43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5cbcf7aa594897" /><Relationship Type="http://schemas.openxmlformats.org/officeDocument/2006/relationships/image" Target="/ppt/media/image.jpeg" Id="Rd98700231693458c" /><Relationship Type="http://schemas.openxmlformats.org/officeDocument/2006/relationships/notesSlide" Target="/ppt/notesSlides/notesSlide1.xml" Id="R120afdc943a645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f1ef6be7284f84" /><Relationship Type="http://schemas.openxmlformats.org/officeDocument/2006/relationships/notesSlide" Target="/ppt/notesSlides/notesSlide2.xml" Id="Rbb36aba3f02044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b196a46474a4e1a" /><Relationship Type="http://schemas.openxmlformats.org/officeDocument/2006/relationships/notesSlide" Target="/ppt/notesSlides/notesSlide3.xml" Id="Ra6611bd0388e48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c880a25c2794461" /><Relationship Type="http://schemas.openxmlformats.org/officeDocument/2006/relationships/notesSlide" Target="/ppt/notesSlides/notesSlide4.xml" Id="R6bb074735bcd44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db8d97d302d41c7" /><Relationship Type="http://schemas.openxmlformats.org/officeDocument/2006/relationships/chart" Target="/ppt/slides/charts/chart1.xml" Id="R7a4bb915acf6422c" /><Relationship Type="http://schemas.openxmlformats.org/officeDocument/2006/relationships/notesSlide" Target="/ppt/notesSlides/notesSlide5.xml" Id="Rab8632c74a1042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4dd07799e4f4a54" /><Relationship Type="http://schemas.openxmlformats.org/officeDocument/2006/relationships/notesSlide" Target="/ppt/notesSlides/notesSlide6.xml" Id="R792665b9b92840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76ff682849a417f" /><Relationship Type="http://schemas.openxmlformats.org/officeDocument/2006/relationships/notesSlide" Target="/ppt/notesSlides/notesSlide7.xml" Id="Re0e62ed7eb964c6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Equal-weight baseline</c:v>
          </c:tx>
          <c:spPr>
            <a:solidFill xmlns:a="http://schemas.openxmlformats.org/drawingml/2006/main">
              <a:srgbClr val="D4DED4"/>
            </a:solidFill>
          </c:spPr>
          <c:cat>
            <c:strRef>
              <c:f>'Chart Data'!$A$2:$A$11</c:f>
              <c:strCache>
                <c:ptCount val="10"/>
                <c:pt idx="0">
                  <c:v>AAPL</c:v>
                </c:pt>
                <c:pt idx="1">
                  <c:v>MSFT</c:v>
                </c:pt>
                <c:pt idx="2">
                  <c:v>NVDA</c:v>
                </c:pt>
                <c:pt idx="3">
                  <c:v>AMZN</c:v>
                </c:pt>
                <c:pt idx="4">
                  <c:v>GOOGL</c:v>
                </c:pt>
                <c:pt idx="5">
                  <c:v>META</c:v>
                </c:pt>
                <c:pt idx="6">
                  <c:v>JPM</c:v>
                </c:pt>
                <c:pt idx="7">
                  <c:v>XOM</c:v>
                </c:pt>
                <c:pt idx="8">
                  <c:v>JNJ</c:v>
                </c:pt>
                <c:pt idx="9">
                  <c:v>WMT</c:v>
                </c:pt>
              </c:strCache>
            </c:strRef>
          </c:cat>
          <c:val>
            <c:numRef>
              <c:f>'Chart Data'!$B$2:$B$11</c:f>
              <c:numCache>
                <c:formatCode>0.0%</c:formatCode>
                <c:ptCount val="10"/>
                <c:pt idx="0">
                  <c:v>0.1</c:v>
                </c:pt>
                <c:pt idx="1">
                  <c:v>0.1</c:v>
                </c:pt>
                <c:pt idx="2">
                  <c:v>0.1</c:v>
                </c:pt>
                <c:pt idx="3">
                  <c:v>0.1</c:v>
                </c:pt>
                <c:pt idx="4">
                  <c:v>0.1</c:v>
                </c:pt>
                <c:pt idx="5">
                  <c:v>0.1</c:v>
                </c:pt>
                <c:pt idx="6">
                  <c:v>0.1</c:v>
                </c:pt>
                <c:pt idx="7">
                  <c:v>0.1</c:v>
                </c:pt>
                <c:pt idx="8">
                  <c:v>0.1</c:v>
                </c:pt>
                <c:pt idx="9">
                  <c:v>0.1</c:v>
                </c:pt>
              </c:numCache>
            </c:numRef>
          </c:val>
        </c:ser>
        <c:ser>
          <c:idx val="1"/>
          <c:order val="1"/>
          <c:tx>
            <c:v>After synthetic replay</c:v>
          </c:tx>
          <c:spPr>
            <a:solidFill xmlns:a="http://schemas.openxmlformats.org/drawingml/2006/main">
              <a:srgbClr val="2D7155"/>
            </a:solidFill>
          </c:spPr>
          <c:cat>
            <c:strRef>
              <c:f>'Chart Data'!$C$2:$C$11</c:f>
              <c:strCache>
                <c:ptCount val="10"/>
                <c:pt idx="0">
                  <c:v>AAPL</c:v>
                </c:pt>
                <c:pt idx="1">
                  <c:v>MSFT</c:v>
                </c:pt>
                <c:pt idx="2">
                  <c:v>NVDA</c:v>
                </c:pt>
                <c:pt idx="3">
                  <c:v>AMZN</c:v>
                </c:pt>
                <c:pt idx="4">
                  <c:v>GOOGL</c:v>
                </c:pt>
                <c:pt idx="5">
                  <c:v>META</c:v>
                </c:pt>
                <c:pt idx="6">
                  <c:v>JPM</c:v>
                </c:pt>
                <c:pt idx="7">
                  <c:v>XOM</c:v>
                </c:pt>
                <c:pt idx="8">
                  <c:v>JNJ</c:v>
                </c:pt>
                <c:pt idx="9">
                  <c:v>WMT</c:v>
                </c:pt>
              </c:strCache>
            </c:strRef>
          </c:cat>
          <c:val>
            <c:numRef>
              <c:f>'Chart Data'!$D$2:$D$11</c:f>
              <c:numCache>
                <c:formatCode>0.0%</c:formatCode>
                <c:ptCount val="10"/>
                <c:pt idx="0">
                  <c:v>0.125006</c:v>
                </c:pt>
                <c:pt idx="1">
                  <c:v>0.122541</c:v>
                </c:pt>
                <c:pt idx="2">
                  <c:v>0.124276</c:v>
                </c:pt>
                <c:pt idx="3">
                  <c:v>0.075359</c:v>
                </c:pt>
                <c:pt idx="4">
                  <c:v>0.125258</c:v>
                </c:pt>
                <c:pt idx="5">
                  <c:v>0.076225</c:v>
                </c:pt>
                <c:pt idx="6">
                  <c:v>0.075442</c:v>
                </c:pt>
                <c:pt idx="7">
                  <c:v>0.075509</c:v>
                </c:pt>
                <c:pt idx="8">
                  <c:v>0.125285</c:v>
                </c:pt>
                <c:pt idx="9">
                  <c:v>0.075098</c:v>
                </c:pt>
              </c:numCache>
            </c:numRef>
          </c:val>
        </c:ser>
        <c:dLbls>
          <c:txPr>
            <a:bodyPr xmlns:a="http://schemas.openxmlformats.org/drawingml/2006/main" anchorCtr="1"/>
            <a:lstStyle xmlns:a="http://schemas.openxmlformats.org/drawingml/2006/main"/>
            <a:p xmlns:a="http://schemas.openxmlformats.org/drawingml/2006/main">
              <a:pPr>
                <a:defRPr sz="1725">
                  <a:latin typeface="DejaVu Sans"/>
                  <a:ea typeface="DejaVu Sans"/>
                  <a:cs typeface="DejaVu Sans"/>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4DA"/>
            </a:solidFill>
          </a:ln>
        </c:spPr>
        <c:txPr>
          <a:bodyPr xmlns:a="http://schemas.openxmlformats.org/drawingml/2006/main" anchorCtr="1"/>
          <a:lstStyle xmlns:a="http://schemas.openxmlformats.org/drawingml/2006/main"/>
          <a:p xmlns:a="http://schemas.openxmlformats.org/drawingml/2006/main">
            <a:pPr>
              <a:defRPr sz="1725">
                <a:solidFill>
                  <a:srgbClr val="183B2E"/>
                </a:solidFill>
                <a:latin typeface="DejaVu Sans"/>
                <a:ea typeface="DejaVu Sans"/>
                <a:cs typeface="DejaVu Sans"/>
              </a:defRPr>
            </a:pPr>
          </a:p>
        </c:txPr>
        <c:crossAx val="48672768"/>
      </c:catAx>
      <c:valAx>
        <c:axId val="48672768"/>
        <c:scaling>
          <c:orientation val="minMax"/>
          <c:max val="0.16"/>
          <c:min val="0"/>
        </c:scaling>
        <c:delete val="0"/>
        <c:axPos val="l"/>
        <c:majorGridlines>
          <c:spPr>
            <a:ln xmlns:a="http://schemas.openxmlformats.org/drawingml/2006/main" w="9525">
              <a:solidFill>
                <a:srgbClr val="DCE4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6665B"/>
                </a:solidFill>
                <a:latin typeface="DejaVu Sans"/>
                <a:ea typeface="DejaVu Sans"/>
                <a:cs typeface="DejaVu Sans"/>
              </a:defRPr>
            </a:pPr>
          </a:p>
        </c:txPr>
        <c:crossAx val="48650112"/>
        <c:crossBetween val="between"/>
        <c:majorUnit val="0.04"/>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83B2E"/>
              </a:solidFill>
              <a:latin typeface="DejaVu Sans"/>
              <a:ea typeface="DejaVu Sans"/>
              <a:cs typeface="DejaVu Sans"/>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B2E"/>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3E344680-7A1C-40FD-B227-10729468CACD}"/>
              </a:ext>
            </a:extLst>
          </p:cNvPr>
          <p:cNvPicPr>
            <a:picLocks xmlns:a="http://schemas.openxmlformats.org/drawingml/2006/main" noChangeAspect="1"/>
          </p:cNvPicPr>
          <p:nvPr/>
        </p:nvPicPr>
        <p:blipFill>
          <a:blip xmlns:r="http://schemas.openxmlformats.org/officeDocument/2006/relationships" xmlns:a="http://schemas.openxmlformats.org/drawingml/2006/main" r:embed="Rd98700231693458c"/>
          <a:srcRect xmlns:a="http://schemas.openxmlformats.org/drawingml/2006/main" l="21019" t="0" r="21019" b="0"/>
          <a:stretch xmlns:a="http://schemas.openxmlformats.org/drawingml/2006/main">
            <a:fillRect l="0" t="0" r="0" b="0"/>
          </a:stretch>
        </p:blipFill>
        <p:spPr>
          <a:xfrm xmlns:a="http://schemas.openxmlformats.org/drawingml/2006/main">
            <a:off x="6229350" y="0"/>
            <a:ext cx="596265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D9D06E8B-CA51-409D-BBCA-5A9545EBCE3C}"/>
              </a:ext>
            </a:extLst>
          </p:cNvPr>
          <p:cNvSpPr>
            <a:spLocks xmlns:a="http://schemas.openxmlformats.org/drawingml/2006/main" noGrp="1"/>
          </p:cNvSpPr>
          <p:nvPr/>
        </p:nvSpPr>
        <p:spPr>
          <a:xfrm xmlns:a="http://schemas.openxmlformats.org/drawingml/2006/main">
            <a:off x="609600" y="2038350"/>
            <a:ext cx="5238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775" b="1">
                <a:solidFill>
                  <a:srgbClr val="FFFFFF"/>
                </a:solidFill>
                <a:latin typeface="DejaVu Sans"/>
                <a:ea typeface="DejaVu Sans"/>
                <a:cs typeface="DejaVu Sans"/>
              </a:defRPr>
            </a:defPPr>
          </a:lstStyle>
          <a:p xmlns:a="http://schemas.openxmlformats.org/drawingml/2006/main">
            <a:pPr>
              <a:defRPr sz="5775" b="1">
                <a:solidFill>
                  <a:srgbClr val="FFFFFF"/>
                </a:solidFill>
                <a:latin typeface="DejaVu Sans"/>
                <a:ea typeface="DejaVu Sans"/>
                <a:cs typeface="DejaVu Sans"/>
              </a:defRPr>
            </a:pPr>
            <a:r>
              <a:rPr sz="5775" b="1">
                <a:solidFill>
                  <a:srgbClr val="FFFFFF"/>
                </a:solidFill>
                <a:latin typeface="DejaVu Sans"/>
                <a:ea typeface="DejaVu Sans"/>
                <a:cs typeface="DejaVu Sans"/>
              </a:rPr>
              <a:t>RiskPulse</a:t>
            </a:r>
          </a:p>
        </p:txBody>
      </p:sp>
      <p:sp>
        <p:nvSpPr>
          <p:cNvPr id="3" name="body">
            <a:extLst xmlns:a="http://schemas.openxmlformats.org/drawingml/2006/main">
              <a:ext uri="{FF2B5EF4-FFF2-40B4-BE49-F238E27FC236}">
                <a16:creationId xmlns:a16="http://schemas.microsoft.com/office/drawing/2014/main" id="{2C7CB7C6-BE50-4A6A-91FF-719DE216931A}"/>
              </a:ext>
            </a:extLst>
          </p:cNvPr>
          <p:cNvSpPr>
            <a:spLocks xmlns:a="http://schemas.openxmlformats.org/drawingml/2006/main" noGrp="1"/>
          </p:cNvSpPr>
          <p:nvPr/>
        </p:nvSpPr>
        <p:spPr>
          <a:xfrm xmlns:a="http://schemas.openxmlformats.org/drawingml/2006/main">
            <a:off x="628650" y="3162300"/>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0">
                <a:solidFill>
                  <a:srgbClr val="D6E6D7"/>
                </a:solidFill>
                <a:latin typeface="DejaVu Sans"/>
                <a:ea typeface="DejaVu Sans"/>
                <a:cs typeface="DejaVu Sans"/>
              </a:defRPr>
            </a:defPPr>
          </a:lstStyle>
          <a:p xmlns:a="http://schemas.openxmlformats.org/drawingml/2006/main">
            <a:pPr>
              <a:defRPr sz="2325" b="0">
                <a:solidFill>
                  <a:srgbClr val="D6E6D7"/>
                </a:solidFill>
                <a:latin typeface="DejaVu Sans"/>
                <a:ea typeface="DejaVu Sans"/>
                <a:cs typeface="DejaVu Sans"/>
              </a:defRPr>
            </a:pPr>
            <a:r>
              <a:rPr sz="2325" b="0">
                <a:solidFill>
                  <a:srgbClr val="D6E6D7"/>
                </a:solidFill>
                <a:latin typeface="DejaVu Sans"/>
                <a:ea typeface="DejaVu Sans"/>
                <a:cs typeface="DejaVu Sans"/>
              </a:rPr>
              <a:t>Financial risk intelligence</a:t>
            </a:r>
          </a:p>
          <a:p xmlns:a="http://schemas.openxmlformats.org/drawingml/2006/main">
            <a:pPr>
              <a:defRPr sz="2325" b="0">
                <a:solidFill>
                  <a:srgbClr val="D6E6D7"/>
                </a:solidFill>
                <a:latin typeface="DejaVu Sans"/>
                <a:ea typeface="DejaVu Sans"/>
                <a:cs typeface="DejaVu Sans"/>
              </a:defRPr>
            </a:pPr>
            <a:r>
              <a:rPr sz="2325" b="0">
                <a:solidFill>
                  <a:srgbClr val="D6E6D7"/>
                </a:solidFill>
                <a:latin typeface="DejaVu Sans"/>
                <a:ea typeface="DejaVu Sans"/>
                <a:cs typeface="DejaVu Sans"/>
              </a:rPr>
              <a:t>and mock index rebalancing</a:t>
            </a:r>
          </a:p>
        </p:txBody>
      </p:sp>
      <p:sp>
        <p:nvSpPr>
          <p:cNvPr id="4" name="body">
            <a:extLst xmlns:a="http://schemas.openxmlformats.org/drawingml/2006/main">
              <a:ext uri="{FF2B5EF4-FFF2-40B4-BE49-F238E27FC236}">
                <a16:creationId xmlns:a16="http://schemas.microsoft.com/office/drawing/2014/main" id="{641EA24D-60F6-47F8-8A6D-F08F393FE600}"/>
              </a:ext>
            </a:extLst>
          </p:cNvPr>
          <p:cNvSpPr>
            <a:spLocks xmlns:a="http://schemas.openxmlformats.org/drawingml/2006/main" noGrp="1"/>
          </p:cNvSpPr>
          <p:nvPr/>
        </p:nvSpPr>
        <p:spPr>
          <a:xfrm xmlns:a="http://schemas.openxmlformats.org/drawingml/2006/main">
            <a:off x="628650" y="52006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1">
                <a:solidFill>
                  <a:srgbClr val="FFFFFF"/>
                </a:solidFill>
                <a:latin typeface="DejaVu Sans"/>
                <a:ea typeface="DejaVu Sans"/>
                <a:cs typeface="DejaVu Sans"/>
              </a:defRPr>
            </a:defPPr>
          </a:lstStyle>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Tanish Singh</a:t>
            </a:r>
          </a:p>
        </p:txBody>
      </p:sp>
      <p:sp>
        <p:nvSpPr>
          <p:cNvPr id="5" name="body">
            <a:extLst xmlns:a="http://schemas.openxmlformats.org/drawingml/2006/main">
              <a:ext uri="{FF2B5EF4-FFF2-40B4-BE49-F238E27FC236}">
                <a16:creationId xmlns:a16="http://schemas.microsoft.com/office/drawing/2014/main" id="{724E1604-1F87-4EE9-8A3C-194A2BDBFC8A}"/>
              </a:ext>
            </a:extLst>
          </p:cNvPr>
          <p:cNvSpPr>
            <a:spLocks xmlns:a="http://schemas.openxmlformats.org/drawingml/2006/main" noGrp="1"/>
          </p:cNvSpPr>
          <p:nvPr/>
        </p:nvSpPr>
        <p:spPr>
          <a:xfrm xmlns:a="http://schemas.openxmlformats.org/drawingml/2006/main">
            <a:off x="628650" y="571500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C4D7C8"/>
                </a:solidFill>
                <a:latin typeface="DejaVu Sans"/>
                <a:ea typeface="DejaVu Sans"/>
                <a:cs typeface="DejaVu Sans"/>
              </a:defRPr>
            </a:defPPr>
          </a:lstStyle>
          <a:p xmlns:a="http://schemas.openxmlformats.org/drawingml/2006/main">
            <a:pPr>
              <a:defRPr sz="1725" b="0">
                <a:solidFill>
                  <a:srgbClr val="C4D7C8"/>
                </a:solidFill>
                <a:latin typeface="DejaVu Sans"/>
                <a:ea typeface="DejaVu Sans"/>
                <a:cs typeface="DejaVu Sans"/>
              </a:defRPr>
            </a:pPr>
            <a:r>
              <a:rPr sz="1725" b="0">
                <a:solidFill>
                  <a:srgbClr val="C4D7C8"/>
                </a:solidFill>
                <a:latin typeface="DejaVu Sans"/>
                <a:ea typeface="DejaVu Sans"/>
                <a:cs typeface="DejaVu Sans"/>
              </a:rPr>
              <a:t>S&amp;P Global &amp; Crisil</a:t>
            </a:r>
          </a:p>
          <a:p xmlns:a="http://schemas.openxmlformats.org/drawingml/2006/main">
            <a:pPr>
              <a:defRPr sz="1725" b="0">
                <a:solidFill>
                  <a:srgbClr val="C4D7C8"/>
                </a:solidFill>
                <a:latin typeface="DejaVu Sans"/>
                <a:ea typeface="DejaVu Sans"/>
                <a:cs typeface="DejaVu Sans"/>
              </a:defRPr>
            </a:pPr>
            <a:r>
              <a:rPr sz="1725" b="0">
                <a:solidFill>
                  <a:srgbClr val="C4D7C8"/>
                </a:solidFill>
                <a:latin typeface="DejaVu Sans"/>
                <a:ea typeface="DejaVu Sans"/>
                <a:cs typeface="DejaVu Sans"/>
              </a:rPr>
              <a:t>Campus Hackathon 2026</a:t>
            </a:r>
          </a:p>
        </p:txBody>
      </p:sp>
    </p:spTree>
    <p:extLst>
      <p:ext uri="{BB962C8B-B14F-4D97-AF65-F5344CB8AC3E}">
        <p14:creationId xmlns:p14="http://schemas.microsoft.com/office/powerpoint/2010/main" val="100259261"/>
      </p:ext>
    </p:extLst>
  </p:cSld>
</p:sld>
</file>

<file path=ppt/slides/slide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7CD4B28-A3BC-46DF-BF5F-6305B98B59AB}"/>
              </a:ext>
            </a:extLst>
          </p:cNvPr>
          <p:cNvSpPr>
            <a:spLocks xmlns:a="http://schemas.openxmlformats.org/drawingml/2006/main" noGrp="1"/>
          </p:cNvSpPr>
          <p:nvPr/>
        </p:nvSpPr>
        <p:spPr>
          <a:xfrm xmlns:a="http://schemas.openxmlformats.org/drawingml/2006/main">
            <a:off x="609600" y="4953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183B2E"/>
                </a:solidFill>
                <a:latin typeface="DejaVu Sans"/>
                <a:ea typeface="DejaVu Sans"/>
                <a:cs typeface="DejaVu Sans"/>
              </a:defRPr>
            </a:defPPr>
          </a:lstStyle>
          <a:p xmlns:a="http://schemas.openxmlformats.org/drawingml/2006/main">
            <a:pPr>
              <a:defRPr sz="3375" b="1">
                <a:solidFill>
                  <a:srgbClr val="183B2E"/>
                </a:solidFill>
                <a:latin typeface="DejaVu Sans"/>
                <a:ea typeface="DejaVu Sans"/>
                <a:cs typeface="DejaVu Sans"/>
              </a:defRPr>
            </a:pPr>
            <a:r>
              <a:rPr sz="3375" b="1">
                <a:solidFill>
                  <a:srgbClr val="183B2E"/>
                </a:solidFill>
                <a:latin typeface="DejaVu Sans"/>
                <a:ea typeface="DejaVu Sans"/>
                <a:cs typeface="DejaVu Sans"/>
              </a:rPr>
              <a:t>Case study scope</a:t>
            </a:r>
          </a:p>
        </p:txBody>
      </p:sp>
      <p:sp>
        <p:nvSpPr>
          <p:cNvPr id="2" name="folio">
            <a:extLst xmlns:a="http://schemas.openxmlformats.org/drawingml/2006/main">
              <a:ext uri="{FF2B5EF4-FFF2-40B4-BE49-F238E27FC236}">
                <a16:creationId xmlns:a16="http://schemas.microsoft.com/office/drawing/2014/main" id="{ECCD28A5-0CAA-4913-964E-312D2940A2B3}"/>
              </a:ext>
            </a:extLst>
          </p:cNvPr>
          <p:cNvSpPr>
            <a:spLocks xmlns:a="http://schemas.openxmlformats.org/drawingml/2006/main" noGrp="1"/>
          </p:cNvSpPr>
          <p:nvPr/>
        </p:nvSpPr>
        <p:spPr>
          <a:xfrm xmlns:a="http://schemas.openxmlformats.org/drawingml/2006/main">
            <a:off x="11334750" y="6362700"/>
            <a:ext cx="28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6665B"/>
                </a:solidFill>
                <a:latin typeface="DejaVu Sans"/>
                <a:ea typeface="DejaVu Sans"/>
                <a:cs typeface="DejaVu Sans"/>
              </a:defRPr>
            </a:defPPr>
          </a:lstStyle>
          <a:p xmlns:a="http://schemas.openxmlformats.org/drawingml/2006/main">
            <a:pPr>
              <a:defRPr sz="1350" b="0">
                <a:solidFill>
                  <a:srgbClr val="56665B"/>
                </a:solidFill>
                <a:latin typeface="DejaVu Sans"/>
                <a:ea typeface="DejaVu Sans"/>
                <a:cs typeface="DejaVu Sans"/>
              </a:defRPr>
            </a:pPr>
            <a:r>
              <a:rPr sz="1350" b="0">
                <a:solidFill>
                  <a:srgbClr val="56665B"/>
                </a:solidFill>
                <a:latin typeface="DejaVu Sans"/>
                <a:ea typeface="DejaVu Sans"/>
                <a:cs typeface="DejaVu Sans"/>
              </a:rPr>
              <a:t>2</a:t>
            </a:r>
          </a:p>
        </p:txBody>
      </p:sp>
      <p:sp>
        <p:nvSpPr>
          <p:cNvPr id="3" name="body">
            <a:extLst xmlns:a="http://schemas.openxmlformats.org/drawingml/2006/main">
              <a:ext uri="{FF2B5EF4-FFF2-40B4-BE49-F238E27FC236}">
                <a16:creationId xmlns:a16="http://schemas.microsoft.com/office/drawing/2014/main" id="{C872B02E-E482-4F7C-976F-D22609DFE707}"/>
              </a:ext>
            </a:extLst>
          </p:cNvPr>
          <p:cNvSpPr>
            <a:spLocks xmlns:a="http://schemas.openxmlformats.org/drawingml/2006/main" noGrp="1"/>
          </p:cNvSpPr>
          <p:nvPr/>
        </p:nvSpPr>
        <p:spPr>
          <a:xfrm xmlns:a="http://schemas.openxmlformats.org/drawingml/2006/main">
            <a:off x="609600" y="13811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183B2E"/>
                </a:solidFill>
                <a:latin typeface="DejaVu Sans"/>
                <a:ea typeface="DejaVu Sans"/>
                <a:cs typeface="DejaVu Sans"/>
              </a:defRPr>
            </a:defPPr>
          </a:lstStyle>
          <a:p xmlns:a="http://schemas.openxmlformats.org/drawingml/2006/main">
            <a:pPr>
              <a:defRPr sz="2175" b="0">
                <a:solidFill>
                  <a:srgbClr val="183B2E"/>
                </a:solidFill>
                <a:latin typeface="DejaVu Sans"/>
                <a:ea typeface="DejaVu Sans"/>
                <a:cs typeface="DejaVu Sans"/>
              </a:defRPr>
            </a:pPr>
            <a:r>
              <a:rPr sz="2175" b="0">
                <a:solidFill>
                  <a:srgbClr val="183B2E"/>
                </a:solidFill>
                <a:latin typeface="DejaVu Sans"/>
                <a:ea typeface="DejaVu Sans"/>
                <a:cs typeface="DejaVu Sans"/>
              </a:rPr>
              <a:t>Financial news and company announcements feed one engine.</a:t>
            </a:r>
          </a:p>
        </p:txBody>
      </p:sp>
      <p:graphicFrame>
        <p:nvGraphicFramePr>
          <p:cNvPr id="4" name="">
            <a:extLst xmlns:a="http://schemas.openxmlformats.org/drawingml/2006/main">
              <a:ext uri="{FF2B5EF4-FFF2-40B4-BE49-F238E27FC236}">
                <a16:creationId xmlns:a16="http://schemas.microsoft.com/office/drawing/2014/main" id="{A0D5ED10-02D8-43AA-89C8-2D67D207979E}"/>
              </a:ext>
            </a:extLst>
          </p:cNvPr>
          <p:cNvGraphicFramePr/>
          <p:nvPr/>
        </p:nvGraphicFramePr>
        <p:xfrm>
          <a:off xmlns:a="http://schemas.openxmlformats.org/drawingml/2006/main" x="609600" y="2305050"/>
          <a:ext xmlns:a="http://schemas.openxmlformats.org/drawingml/2006/main" cx="10972800" cy="2857500"/>
        </p:xfrm>
        <a:graphic xmlns:a="http://schemas.openxmlformats.org/drawingml/2006/main">
          <a:graphicData uri="http://schemas.openxmlformats.org/drawingml/2006/table">
            <a:tbl>
              <a:tblPr firstRow="0" bandRow="0"/>
              <a:tblGrid>
                <a:gridCol w="3286125"/>
                <a:gridCol w="3333750"/>
                <a:gridCol w="4352925"/>
              </a:tblGrid>
              <a:tr h="714375">
                <a:tc>
                  <a:txBody>
                    <a:bodyPr/>
                    <a:lstStyle/>
                    <a:p>
                      <a:r>
                        <a:rPr sz="1875" b="1">
                          <a:solidFill>
                            <a:srgbClr val="FFFFFF"/>
                          </a:solidFill>
                          <a:latin typeface="DejaVu Sans"/>
                          <a:ea typeface="DejaVu Sans"/>
                          <a:cs typeface="DejaVu Sans"/>
                        </a:rPr>
                        <a:t>Required output</a:t>
                      </a:r>
                    </a:p>
                  </a:txBody>
                  <a:tcPr marL="152400" marR="152400" marT="114300" marB="114300">
                    <a:solidFill>
                      <a:srgbClr val="183B2E"/>
                    </a:solidFill>
                  </a:tcPr>
                </a:tc>
                <a:tc>
                  <a:txBody>
                    <a:bodyPr/>
                    <a:lstStyle/>
                    <a:p>
                      <a:r>
                        <a:rPr sz="1875" b="1">
                          <a:solidFill>
                            <a:srgbClr val="FFFFFF"/>
                          </a:solidFill>
                          <a:latin typeface="DejaVu Sans"/>
                          <a:ea typeface="DejaVu Sans"/>
                          <a:cs typeface="DejaVu Sans"/>
                        </a:rPr>
                        <a:t>Representation</a:t>
                      </a:r>
                    </a:p>
                  </a:txBody>
                  <a:tcPr marL="152400" marR="152400" marT="114300" marB="114300">
                    <a:solidFill>
                      <a:srgbClr val="183B2E"/>
                    </a:solidFill>
                  </a:tcPr>
                </a:tc>
                <a:tc>
                  <a:txBody>
                    <a:bodyPr/>
                    <a:lstStyle/>
                    <a:p>
                      <a:r>
                        <a:rPr sz="1875" b="1">
                          <a:solidFill>
                            <a:srgbClr val="FFFFFF"/>
                          </a:solidFill>
                          <a:latin typeface="DejaVu Sans"/>
                          <a:ea typeface="DejaVu Sans"/>
                          <a:cs typeface="DejaVu Sans"/>
                        </a:rPr>
                        <a:t>Application</a:t>
                      </a:r>
                    </a:p>
                  </a:txBody>
                  <a:tcPr marL="152400" marR="152400" marT="114300" marB="114300">
                    <a:solidFill>
                      <a:srgbClr val="183B2E"/>
                    </a:solidFill>
                  </a:tcPr>
                </a:tc>
              </a:tr>
              <a:tr h="714375">
                <a:tc>
                  <a:txBody>
                    <a:bodyPr/>
                    <a:lstStyle/>
                    <a:p>
                      <a:r>
                        <a:rPr sz="1875">
                          <a:solidFill>
                            <a:srgbClr val="183B2E"/>
                          </a:solidFill>
                          <a:latin typeface="DejaVu Sans"/>
                          <a:ea typeface="DejaVu Sans"/>
                          <a:cs typeface="DejaVu Sans"/>
                        </a:rPr>
                        <a:t>Sentiment score</a:t>
                      </a:r>
                    </a:p>
                  </a:txBody>
                  <a:tcPr marL="152400" marR="152400" marT="114300" marB="114300">
                    <a:solidFill>
                      <a:srgbClr val="FFFFFF"/>
                    </a:solidFill>
                  </a:tcPr>
                </a:tc>
                <a:tc>
                  <a:txBody>
                    <a:bodyPr/>
                    <a:lstStyle/>
                    <a:p>
                      <a:r>
                        <a:rPr sz="1875">
                          <a:solidFill>
                            <a:srgbClr val="183B2E"/>
                          </a:solidFill>
                          <a:latin typeface="DejaVu Sans"/>
                          <a:ea typeface="DejaVu Sans"/>
                          <a:cs typeface="DejaVu Sans"/>
                        </a:rPr>
                        <a:t>-1.0 to +1.0</a:t>
                      </a:r>
                    </a:p>
                  </a:txBody>
                  <a:tcPr marL="152400" marR="152400" marT="114300" marB="114300">
                    <a:solidFill>
                      <a:srgbClr val="FFFFFF"/>
                    </a:solidFill>
                  </a:tcPr>
                </a:tc>
                <a:tc>
                  <a:txBody>
                    <a:bodyPr/>
                    <a:lstStyle/>
                    <a:p>
                      <a:r>
                        <a:rPr sz="1875">
                          <a:solidFill>
                            <a:srgbClr val="183B2E"/>
                          </a:solidFill>
                          <a:latin typeface="DejaVu Sans"/>
                          <a:ea typeface="DejaVu Sans"/>
                          <a:cs typeface="DejaVu Sans"/>
                        </a:rPr>
                        <a:t>Mock index allocation</a:t>
                      </a:r>
                    </a:p>
                  </a:txBody>
                  <a:tcPr marL="152400" marR="152400" marT="114300" marB="114300">
                    <a:solidFill>
                      <a:srgbClr val="FFFFFF"/>
                    </a:solidFill>
                  </a:tcPr>
                </a:tc>
              </a:tr>
              <a:tr h="714375">
                <a:tc>
                  <a:txBody>
                    <a:bodyPr/>
                    <a:lstStyle/>
                    <a:p>
                      <a:r>
                        <a:rPr sz="1875">
                          <a:solidFill>
                            <a:srgbClr val="183B2E"/>
                          </a:solidFill>
                          <a:latin typeface="DejaVu Sans"/>
                          <a:ea typeface="DejaVu Sans"/>
                          <a:cs typeface="DejaVu Sans"/>
                        </a:rPr>
                        <a:t>Event classification</a:t>
                      </a:r>
                    </a:p>
                  </a:txBody>
                  <a:tcPr marL="152400" marR="152400" marT="114300" marB="114300">
                    <a:solidFill>
                      <a:srgbClr val="FFFFFF"/>
                    </a:solidFill>
                  </a:tcPr>
                </a:tc>
                <a:tc>
                  <a:txBody>
                    <a:bodyPr/>
                    <a:lstStyle/>
                    <a:p>
                      <a:r>
                        <a:rPr sz="1875">
                          <a:solidFill>
                            <a:srgbClr val="183B2E"/>
                          </a:solidFill>
                          <a:latin typeface="DejaVu Sans"/>
                          <a:ea typeface="DejaVu Sans"/>
                          <a:cs typeface="DejaVu Sans"/>
                        </a:rPr>
                        <a:t>Categorical label</a:t>
                      </a:r>
                    </a:p>
                  </a:txBody>
                  <a:tcPr marL="152400" marR="152400" marT="114300" marB="114300">
                    <a:solidFill>
                      <a:srgbClr val="FFFFFF"/>
                    </a:solidFill>
                  </a:tcPr>
                </a:tc>
                <a:tc>
                  <a:txBody>
                    <a:bodyPr/>
                    <a:lstStyle/>
                    <a:p>
                      <a:r>
                        <a:rPr sz="1875">
                          <a:solidFill>
                            <a:srgbClr val="183B2E"/>
                          </a:solidFill>
                          <a:latin typeface="DejaVu Sans"/>
                          <a:ea typeface="DejaVu Sans"/>
                          <a:cs typeface="DejaVu Sans"/>
                        </a:rPr>
                        <a:t>Risk search and filtering</a:t>
                      </a:r>
                    </a:p>
                  </a:txBody>
                  <a:tcPr marL="152400" marR="152400" marT="114300" marB="114300">
                    <a:solidFill>
                      <a:srgbClr val="FFFFFF"/>
                    </a:solidFill>
                  </a:tcPr>
                </a:tc>
              </a:tr>
              <a:tr h="714375">
                <a:tc>
                  <a:txBody>
                    <a:bodyPr/>
                    <a:lstStyle/>
                    <a:p>
                      <a:r>
                        <a:rPr sz="1875">
                          <a:solidFill>
                            <a:srgbClr val="183B2E"/>
                          </a:solidFill>
                          <a:latin typeface="DejaVu Sans"/>
                          <a:ea typeface="DejaVu Sans"/>
                          <a:cs typeface="DejaVu Sans"/>
                        </a:rPr>
                        <a:t>Impact score</a:t>
                      </a:r>
                    </a:p>
                  </a:txBody>
                  <a:tcPr marL="152400" marR="152400" marT="114300" marB="114300">
                    <a:solidFill>
                      <a:srgbClr val="FFFFFF"/>
                    </a:solidFill>
                  </a:tcPr>
                </a:tc>
                <a:tc>
                  <a:txBody>
                    <a:bodyPr/>
                    <a:lstStyle/>
                    <a:p>
                      <a:r>
                        <a:rPr sz="1875">
                          <a:solidFill>
                            <a:srgbClr val="183B2E"/>
                          </a:solidFill>
                          <a:latin typeface="DejaVu Sans"/>
                          <a:ea typeface="DejaVu Sans"/>
                          <a:cs typeface="DejaVu Sans"/>
                        </a:rPr>
                        <a:t>1 to 10 severity proxy</a:t>
                      </a:r>
                    </a:p>
                  </a:txBody>
                  <a:tcPr marL="152400" marR="152400" marT="114300" marB="114300">
                    <a:solidFill>
                      <a:srgbClr val="FFFFFF"/>
                    </a:solidFill>
                  </a:tcPr>
                </a:tc>
                <a:tc>
                  <a:txBody>
                    <a:bodyPr/>
                    <a:lstStyle/>
                    <a:p>
                      <a:r>
                        <a:rPr sz="1875">
                          <a:solidFill>
                            <a:srgbClr val="183B2E"/>
                          </a:solidFill>
                          <a:latin typeface="DejaVu Sans"/>
                          <a:ea typeface="DejaVu Sans"/>
                          <a:cs typeface="DejaVu Sans"/>
                        </a:rPr>
                        <a:t>High-impact signal view</a:t>
                      </a:r>
                    </a:p>
                  </a:txBody>
                  <a:tcPr marL="152400" marR="152400" marT="114300" marB="114300">
                    <a:solidFill>
                      <a:srgbClr val="FFFFFF"/>
                    </a:solidFill>
                  </a:tcPr>
                </a:tc>
              </a:tr>
            </a:tbl>
          </a:graphicData>
        </a:graphic>
      </p:graphicFrame>
      <p:sp>
        <p:nvSpPr>
          <p:cNvPr id="5" name="body">
            <a:extLst xmlns:a="http://schemas.openxmlformats.org/drawingml/2006/main">
              <a:ext uri="{FF2B5EF4-FFF2-40B4-BE49-F238E27FC236}">
                <a16:creationId xmlns:a16="http://schemas.microsoft.com/office/drawing/2014/main" id="{0EDFF611-E751-4BA7-8EA2-51F6B018C9E0}"/>
              </a:ext>
            </a:extLst>
          </p:cNvPr>
          <p:cNvSpPr>
            <a:spLocks xmlns:a="http://schemas.openxmlformats.org/drawingml/2006/main" noGrp="1"/>
          </p:cNvSpPr>
          <p:nvPr/>
        </p:nvSpPr>
        <p:spPr>
          <a:xfrm xmlns:a="http://schemas.openxmlformats.org/drawingml/2006/main">
            <a:off x="609600" y="55245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2D7155"/>
                </a:solidFill>
                <a:latin typeface="DejaVu Sans"/>
                <a:ea typeface="DejaVu Sans"/>
                <a:cs typeface="DejaVu Sans"/>
              </a:defRPr>
            </a:defPPr>
          </a:lstStyle>
          <a:p xmlns:a="http://schemas.openxmlformats.org/drawingml/2006/main">
            <a:pPr>
              <a:defRPr sz="2250" b="1">
                <a:solidFill>
                  <a:srgbClr val="2D7155"/>
                </a:solidFill>
                <a:latin typeface="DejaVu Sans"/>
                <a:ea typeface="DejaVu Sans"/>
                <a:cs typeface="DejaVu Sans"/>
              </a:defRPr>
            </a:pPr>
            <a:r>
              <a:rPr sz="2250" b="1">
                <a:solidFill>
                  <a:srgbClr val="2D7155"/>
                </a:solidFill>
                <a:latin typeface="DejaVu Sans"/>
                <a:ea typeface="DejaVu Sans"/>
                <a:cs typeface="DejaVu Sans"/>
              </a:rPr>
              <a:t>Selected downstream module: A</a:t>
            </a:r>
          </a:p>
        </p:txBody>
      </p:sp>
      <p:sp>
        <p:nvSpPr>
          <p:cNvPr id="6" name="body">
            <a:extLst xmlns:a="http://schemas.openxmlformats.org/drawingml/2006/main">
              <a:ext uri="{FF2B5EF4-FFF2-40B4-BE49-F238E27FC236}">
                <a16:creationId xmlns:a16="http://schemas.microsoft.com/office/drawing/2014/main" id="{1E0E446F-310E-4E9D-946E-9B05456B4CBA}"/>
              </a:ext>
            </a:extLst>
          </p:cNvPr>
          <p:cNvSpPr>
            <a:spLocks xmlns:a="http://schemas.openxmlformats.org/drawingml/2006/main" noGrp="1"/>
          </p:cNvSpPr>
          <p:nvPr/>
        </p:nvSpPr>
        <p:spPr>
          <a:xfrm xmlns:a="http://schemas.openxmlformats.org/drawingml/2006/main">
            <a:off x="609600" y="5962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56665B"/>
                </a:solidFill>
                <a:latin typeface="DejaVu Sans"/>
                <a:ea typeface="DejaVu Sans"/>
                <a:cs typeface="DejaVu Sans"/>
              </a:defRPr>
            </a:defPPr>
          </a:lstStyle>
          <a:p xmlns:a="http://schemas.openxmlformats.org/drawingml/2006/main">
            <a:pPr>
              <a:defRPr sz="1800" b="0">
                <a:solidFill>
                  <a:srgbClr val="56665B"/>
                </a:solidFill>
                <a:latin typeface="DejaVu Sans"/>
                <a:ea typeface="DejaVu Sans"/>
                <a:cs typeface="DejaVu Sans"/>
              </a:defRPr>
            </a:pPr>
            <a:r>
              <a:rPr sz="1800" b="0">
                <a:solidFill>
                  <a:srgbClr val="56665B"/>
                </a:solidFill>
                <a:latin typeface="DejaVu Sans"/>
                <a:ea typeface="DejaVu Sans"/>
                <a:cs typeface="DejaVu Sans"/>
              </a:rPr>
              <a:t>Ten stocks, current weights, and persisted allocation history.</a:t>
            </a:r>
          </a:p>
        </p:txBody>
      </p:sp>
    </p:spTree>
    <p:extLst>
      <p:ext uri="{BB962C8B-B14F-4D97-AF65-F5344CB8AC3E}">
        <p14:creationId xmlns:p14="http://schemas.microsoft.com/office/powerpoint/2010/main" val="320299128"/>
      </p:ext>
    </p:extLst>
  </p:cSld>
</p:sld>
</file>

<file path=ppt/slides/slide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C711F93-D2EC-4FC1-8017-C9694C8A1852}"/>
              </a:ext>
            </a:extLst>
          </p:cNvPr>
          <p:cNvSpPr>
            <a:spLocks xmlns:a="http://schemas.openxmlformats.org/drawingml/2006/main" noGrp="1"/>
          </p:cNvSpPr>
          <p:nvPr/>
        </p:nvSpPr>
        <p:spPr>
          <a:xfrm xmlns:a="http://schemas.openxmlformats.org/drawingml/2006/main">
            <a:off x="609600" y="4953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183B2E"/>
                </a:solidFill>
                <a:latin typeface="DejaVu Sans"/>
                <a:ea typeface="DejaVu Sans"/>
                <a:cs typeface="DejaVu Sans"/>
              </a:defRPr>
            </a:defPPr>
          </a:lstStyle>
          <a:p xmlns:a="http://schemas.openxmlformats.org/drawingml/2006/main">
            <a:pPr>
              <a:defRPr sz="3375" b="1">
                <a:solidFill>
                  <a:srgbClr val="183B2E"/>
                </a:solidFill>
                <a:latin typeface="DejaVu Sans"/>
                <a:ea typeface="DejaVu Sans"/>
                <a:cs typeface="DejaVu Sans"/>
              </a:defRPr>
            </a:pPr>
            <a:r>
              <a:rPr sz="3375" b="1">
                <a:solidFill>
                  <a:srgbClr val="183B2E"/>
                </a:solidFill>
                <a:latin typeface="DejaVu Sans"/>
                <a:ea typeface="DejaVu Sans"/>
                <a:cs typeface="DejaVu Sans"/>
              </a:rPr>
              <a:t>System architecture</a:t>
            </a:r>
          </a:p>
        </p:txBody>
      </p:sp>
      <p:sp>
        <p:nvSpPr>
          <p:cNvPr id="2" name="folio">
            <a:extLst xmlns:a="http://schemas.openxmlformats.org/drawingml/2006/main">
              <a:ext uri="{FF2B5EF4-FFF2-40B4-BE49-F238E27FC236}">
                <a16:creationId xmlns:a16="http://schemas.microsoft.com/office/drawing/2014/main" id="{B4B65B70-6DB5-42DC-8181-69B86C22506A}"/>
              </a:ext>
            </a:extLst>
          </p:cNvPr>
          <p:cNvSpPr>
            <a:spLocks xmlns:a="http://schemas.openxmlformats.org/drawingml/2006/main" noGrp="1"/>
          </p:cNvSpPr>
          <p:nvPr/>
        </p:nvSpPr>
        <p:spPr>
          <a:xfrm xmlns:a="http://schemas.openxmlformats.org/drawingml/2006/main">
            <a:off x="11334750" y="6362700"/>
            <a:ext cx="28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6665B"/>
                </a:solidFill>
                <a:latin typeface="DejaVu Sans"/>
                <a:ea typeface="DejaVu Sans"/>
                <a:cs typeface="DejaVu Sans"/>
              </a:defRPr>
            </a:defPPr>
          </a:lstStyle>
          <a:p xmlns:a="http://schemas.openxmlformats.org/drawingml/2006/main">
            <a:pPr>
              <a:defRPr sz="1350" b="0">
                <a:solidFill>
                  <a:srgbClr val="56665B"/>
                </a:solidFill>
                <a:latin typeface="DejaVu Sans"/>
                <a:ea typeface="DejaVu Sans"/>
                <a:cs typeface="DejaVu Sans"/>
              </a:defRPr>
            </a:pPr>
            <a:r>
              <a:rPr sz="1350" b="0">
                <a:solidFill>
                  <a:srgbClr val="56665B"/>
                </a:solidFill>
                <a:latin typeface="DejaVu Sans"/>
                <a:ea typeface="DejaVu Sans"/>
                <a:cs typeface="DejaVu Sans"/>
              </a:rPr>
              <a:t>3</a:t>
            </a:r>
          </a:p>
        </p:txBody>
      </p:sp>
      <p:graphicFrame>
        <p:nvGraphicFramePr>
          <p:cNvPr id="3" name="">
            <a:extLst xmlns:a="http://schemas.openxmlformats.org/drawingml/2006/main">
              <a:ext uri="{FF2B5EF4-FFF2-40B4-BE49-F238E27FC236}">
                <a16:creationId xmlns:a16="http://schemas.microsoft.com/office/drawing/2014/main" id="{DA8E88F4-4C70-41E3-9A19-954FFFAE2238}"/>
              </a:ext>
            </a:extLst>
          </p:cNvPr>
          <p:cNvGraphicFramePr/>
          <p:nvPr/>
        </p:nvGraphicFramePr>
        <p:xfrm>
          <a:off xmlns:a="http://schemas.openxmlformats.org/drawingml/2006/main" x="609600" y="1476375"/>
          <a:ext xmlns:a="http://schemas.openxmlformats.org/drawingml/2006/main" cx="10972800" cy="3943350"/>
        </p:xfrm>
        <a:graphic xmlns:a="http://schemas.openxmlformats.org/drawingml/2006/main">
          <a:graphicData uri="http://schemas.openxmlformats.org/drawingml/2006/table">
            <a:tbl>
              <a:tblPr firstRow="0" bandRow="0"/>
              <a:tblGrid>
                <a:gridCol w="2524125"/>
                <a:gridCol w="5000625"/>
                <a:gridCol w="3448050"/>
              </a:tblGrid>
              <a:tr h="657225">
                <a:tc>
                  <a:txBody>
                    <a:bodyPr/>
                    <a:lstStyle/>
                    <a:p>
                      <a:r>
                        <a:rPr sz="1800" b="1">
                          <a:solidFill>
                            <a:srgbClr val="FFFFFF"/>
                          </a:solidFill>
                          <a:latin typeface="DejaVu Sans"/>
                          <a:ea typeface="DejaVu Sans"/>
                          <a:cs typeface="DejaVu Sans"/>
                        </a:rPr>
                        <a:t>Component</a:t>
                      </a:r>
                    </a:p>
                  </a:txBody>
                  <a:tcPr marL="152400" marR="152400" marT="114300" marB="114300">
                    <a:solidFill>
                      <a:srgbClr val="183B2E"/>
                    </a:solidFill>
                  </a:tcPr>
                </a:tc>
                <a:tc>
                  <a:txBody>
                    <a:bodyPr/>
                    <a:lstStyle/>
                    <a:p>
                      <a:r>
                        <a:rPr sz="1800" b="1">
                          <a:solidFill>
                            <a:srgbClr val="FFFFFF"/>
                          </a:solidFill>
                          <a:latin typeface="DejaVu Sans"/>
                          <a:ea typeface="DejaVu Sans"/>
                          <a:cs typeface="DejaVu Sans"/>
                        </a:rPr>
                        <a:t>Implementation</a:t>
                      </a:r>
                    </a:p>
                  </a:txBody>
                  <a:tcPr marL="152400" marR="152400" marT="114300" marB="114300">
                    <a:solidFill>
                      <a:srgbClr val="183B2E"/>
                    </a:solidFill>
                  </a:tcPr>
                </a:tc>
                <a:tc>
                  <a:txBody>
                    <a:bodyPr/>
                    <a:lstStyle/>
                    <a:p>
                      <a:r>
                        <a:rPr sz="1800" b="1">
                          <a:solidFill>
                            <a:srgbClr val="FFFFFF"/>
                          </a:solidFill>
                          <a:latin typeface="DejaVu Sans"/>
                          <a:ea typeface="DejaVu Sans"/>
                          <a:cs typeface="DejaVu Sans"/>
                        </a:rPr>
                        <a:t>Output</a:t>
                      </a:r>
                    </a:p>
                  </a:txBody>
                  <a:tcPr marL="152400" marR="152400" marT="114300" marB="114300">
                    <a:solidFill>
                      <a:srgbClr val="183B2E"/>
                    </a:solidFill>
                  </a:tcPr>
                </a:tc>
              </a:tr>
              <a:tr h="657225">
                <a:tc>
                  <a:txBody>
                    <a:bodyPr/>
                    <a:lstStyle/>
                    <a:p>
                      <a:r>
                        <a:rPr sz="1800">
                          <a:solidFill>
                            <a:srgbClr val="183B2E"/>
                          </a:solidFill>
                          <a:latin typeface="DejaVu Sans"/>
                          <a:ea typeface="DejaVu Sans"/>
                          <a:cs typeface="DejaVu Sans"/>
                        </a:rPr>
                        <a:t>Ingestion</a:t>
                      </a:r>
                    </a:p>
                  </a:txBody>
                  <a:tcPr marL="152400" marR="152400" marT="114300" marB="114300">
                    <a:solidFill>
                      <a:srgbClr val="FFFFFF"/>
                    </a:solidFill>
                  </a:tcPr>
                </a:tc>
                <a:tc>
                  <a:txBody>
                    <a:bodyPr/>
                    <a:lstStyle/>
                    <a:p>
                      <a:r>
                        <a:rPr sz="1800">
                          <a:solidFill>
                            <a:srgbClr val="183B2E"/>
                          </a:solidFill>
                          <a:latin typeface="DejaVu Sans"/>
                          <a:ea typeface="DejaVu Sans"/>
                          <a:cs typeface="DejaVu Sans"/>
                        </a:rPr>
                        <a:t>HTTPX and RSS/Atom parsing</a:t>
                      </a:r>
                    </a:p>
                  </a:txBody>
                  <a:tcPr marL="152400" marR="152400" marT="114300" marB="114300">
                    <a:solidFill>
                      <a:srgbClr val="FFFFFF"/>
                    </a:solidFill>
                  </a:tcPr>
                </a:tc>
                <a:tc>
                  <a:txBody>
                    <a:bodyPr/>
                    <a:lstStyle/>
                    <a:p>
                      <a:r>
                        <a:rPr sz="1800">
                          <a:solidFill>
                            <a:srgbClr val="183B2E"/>
                          </a:solidFill>
                          <a:latin typeface="DejaVu Sans"/>
                          <a:ea typeface="DejaVu Sans"/>
                          <a:cs typeface="DejaVu Sans"/>
                        </a:rPr>
                        <a:t>Clean source records</a:t>
                      </a:r>
                    </a:p>
                  </a:txBody>
                  <a:tcPr marL="152400" marR="152400" marT="114300" marB="114300">
                    <a:solidFill>
                      <a:srgbClr val="FFFFFF"/>
                    </a:solidFill>
                  </a:tcPr>
                </a:tc>
              </a:tr>
              <a:tr h="657225">
                <a:tc>
                  <a:txBody>
                    <a:bodyPr/>
                    <a:lstStyle/>
                    <a:p>
                      <a:r>
                        <a:rPr sz="1800">
                          <a:solidFill>
                            <a:srgbClr val="183B2E"/>
                          </a:solidFill>
                          <a:latin typeface="DejaVu Sans"/>
                          <a:ea typeface="DejaVu Sans"/>
                          <a:cs typeface="DejaVu Sans"/>
                        </a:rPr>
                        <a:t>Risk engine</a:t>
                      </a:r>
                    </a:p>
                  </a:txBody>
                  <a:tcPr marL="152400" marR="152400" marT="114300" marB="114300">
                    <a:solidFill>
                      <a:srgbClr val="FFFFFF"/>
                    </a:solidFill>
                  </a:tcPr>
                </a:tc>
                <a:tc>
                  <a:txBody>
                    <a:bodyPr/>
                    <a:lstStyle/>
                    <a:p>
                      <a:r>
                        <a:rPr sz="1800">
                          <a:solidFill>
                            <a:srgbClr val="183B2E"/>
                          </a:solidFill>
                          <a:latin typeface="DejaVu Sans"/>
                          <a:ea typeface="DejaVu Sans"/>
                          <a:cs typeface="DejaVu Sans"/>
                        </a:rPr>
                        <a:t>FinBERT plus event/severity rules</a:t>
                      </a:r>
                    </a:p>
                  </a:txBody>
                  <a:tcPr marL="152400" marR="152400" marT="114300" marB="114300">
                    <a:solidFill>
                      <a:srgbClr val="FFFFFF"/>
                    </a:solidFill>
                  </a:tcPr>
                </a:tc>
                <a:tc>
                  <a:txBody>
                    <a:bodyPr/>
                    <a:lstStyle/>
                    <a:p>
                      <a:r>
                        <a:rPr sz="1800">
                          <a:solidFill>
                            <a:srgbClr val="183B2E"/>
                          </a:solidFill>
                          <a:latin typeface="DejaVu Sans"/>
                          <a:ea typeface="DejaVu Sans"/>
                          <a:cs typeface="DejaVu Sans"/>
                        </a:rPr>
                        <a:t>Structured risk signals</a:t>
                      </a:r>
                    </a:p>
                  </a:txBody>
                  <a:tcPr marL="152400" marR="152400" marT="114300" marB="114300">
                    <a:solidFill>
                      <a:srgbClr val="FFFFFF"/>
                    </a:solidFill>
                  </a:tcPr>
                </a:tc>
              </a:tr>
              <a:tr h="657225">
                <a:tc>
                  <a:txBody>
                    <a:bodyPr/>
                    <a:lstStyle/>
                    <a:p>
                      <a:r>
                        <a:rPr sz="1800">
                          <a:solidFill>
                            <a:srgbClr val="183B2E"/>
                          </a:solidFill>
                          <a:latin typeface="DejaVu Sans"/>
                          <a:ea typeface="DejaVu Sans"/>
                          <a:cs typeface="DejaVu Sans"/>
                        </a:rPr>
                        <a:t>Persistence</a:t>
                      </a:r>
                    </a:p>
                  </a:txBody>
                  <a:tcPr marL="152400" marR="152400" marT="114300" marB="114300">
                    <a:solidFill>
                      <a:srgbClr val="FFFFFF"/>
                    </a:solidFill>
                  </a:tcPr>
                </a:tc>
                <a:tc>
                  <a:txBody>
                    <a:bodyPr/>
                    <a:lstStyle/>
                    <a:p>
                      <a:r>
                        <a:rPr sz="1800">
                          <a:solidFill>
                            <a:srgbClr val="183B2E"/>
                          </a:solidFill>
                          <a:latin typeface="DejaVu Sans"/>
                          <a:ea typeface="DejaVu Sans"/>
                          <a:cs typeface="DejaVu Sans"/>
                        </a:rPr>
                        <a:t>SQLite</a:t>
                      </a:r>
                    </a:p>
                  </a:txBody>
                  <a:tcPr marL="152400" marR="152400" marT="114300" marB="114300">
                    <a:solidFill>
                      <a:srgbClr val="FFFFFF"/>
                    </a:solidFill>
                  </a:tcPr>
                </a:tc>
                <a:tc>
                  <a:txBody>
                    <a:bodyPr/>
                    <a:lstStyle/>
                    <a:p>
                      <a:r>
                        <a:rPr sz="1800">
                          <a:solidFill>
                            <a:srgbClr val="183B2E"/>
                          </a:solidFill>
                          <a:latin typeface="DejaVu Sans"/>
                          <a:ea typeface="DejaVu Sans"/>
                          <a:cs typeface="DejaVu Sans"/>
                        </a:rPr>
                        <a:t>Signals and snapshots</a:t>
                      </a:r>
                    </a:p>
                  </a:txBody>
                  <a:tcPr marL="152400" marR="152400" marT="114300" marB="114300">
                    <a:solidFill>
                      <a:srgbClr val="FFFFFF"/>
                    </a:solidFill>
                  </a:tcPr>
                </a:tc>
              </a:tr>
              <a:tr h="657225">
                <a:tc>
                  <a:txBody>
                    <a:bodyPr/>
                    <a:lstStyle/>
                    <a:p>
                      <a:r>
                        <a:rPr sz="1800">
                          <a:solidFill>
                            <a:srgbClr val="183B2E"/>
                          </a:solidFill>
                          <a:latin typeface="DejaVu Sans"/>
                          <a:ea typeface="DejaVu Sans"/>
                          <a:cs typeface="DejaVu Sans"/>
                        </a:rPr>
                        <a:t>Rebalancer</a:t>
                      </a:r>
                    </a:p>
                  </a:txBody>
                  <a:tcPr marL="152400" marR="152400" marT="114300" marB="114300">
                    <a:solidFill>
                      <a:srgbClr val="FFFFFF"/>
                    </a:solidFill>
                  </a:tcPr>
                </a:tc>
                <a:tc>
                  <a:txBody>
                    <a:bodyPr/>
                    <a:lstStyle/>
                    <a:p>
                      <a:r>
                        <a:rPr sz="1800">
                          <a:solidFill>
                            <a:srgbClr val="183B2E"/>
                          </a:solidFill>
                          <a:latin typeface="DejaVu Sans"/>
                          <a:ea typeface="DejaVu Sans"/>
                          <a:cs typeface="DejaVu Sans"/>
                        </a:rPr>
                        <a:t>Confidence and recency tilt</a:t>
                      </a:r>
                    </a:p>
                  </a:txBody>
                  <a:tcPr marL="152400" marR="152400" marT="114300" marB="114300">
                    <a:solidFill>
                      <a:srgbClr val="FFFFFF"/>
                    </a:solidFill>
                  </a:tcPr>
                </a:tc>
                <a:tc>
                  <a:txBody>
                    <a:bodyPr/>
                    <a:lstStyle/>
                    <a:p>
                      <a:r>
                        <a:rPr sz="1800">
                          <a:solidFill>
                            <a:srgbClr val="183B2E"/>
                          </a:solidFill>
                          <a:latin typeface="DejaVu Sans"/>
                          <a:ea typeface="DejaVu Sans"/>
                          <a:cs typeface="DejaVu Sans"/>
                        </a:rPr>
                        <a:t>Constrained weights</a:t>
                      </a:r>
                    </a:p>
                  </a:txBody>
                  <a:tcPr marL="152400" marR="152400" marT="114300" marB="114300">
                    <a:solidFill>
                      <a:srgbClr val="FFFFFF"/>
                    </a:solidFill>
                  </a:tcPr>
                </a:tc>
              </a:tr>
              <a:tr h="657225">
                <a:tc>
                  <a:txBody>
                    <a:bodyPr/>
                    <a:lstStyle/>
                    <a:p>
                      <a:r>
                        <a:rPr sz="1800">
                          <a:solidFill>
                            <a:srgbClr val="183B2E"/>
                          </a:solidFill>
                          <a:latin typeface="DejaVu Sans"/>
                          <a:ea typeface="DejaVu Sans"/>
                          <a:cs typeface="DejaVu Sans"/>
                        </a:rPr>
                        <a:t>API and dashboard</a:t>
                      </a:r>
                    </a:p>
                  </a:txBody>
                  <a:tcPr marL="152400" marR="152400" marT="114300" marB="114300">
                    <a:solidFill>
                      <a:srgbClr val="FFFFFF"/>
                    </a:solidFill>
                  </a:tcPr>
                </a:tc>
                <a:tc>
                  <a:txBody>
                    <a:bodyPr/>
                    <a:lstStyle/>
                    <a:p>
                      <a:r>
                        <a:rPr sz="1800">
                          <a:solidFill>
                            <a:srgbClr val="183B2E"/>
                          </a:solidFill>
                          <a:latin typeface="DejaVu Sans"/>
                          <a:ea typeface="DejaVu Sans"/>
                          <a:cs typeface="DejaVu Sans"/>
                        </a:rPr>
                        <a:t>FastAPI and React</a:t>
                      </a:r>
                    </a:p>
                  </a:txBody>
                  <a:tcPr marL="152400" marR="152400" marT="114300" marB="114300">
                    <a:solidFill>
                      <a:srgbClr val="FFFFFF"/>
                    </a:solidFill>
                  </a:tcPr>
                </a:tc>
                <a:tc>
                  <a:txBody>
                    <a:bodyPr/>
                    <a:lstStyle/>
                    <a:p>
                      <a:r>
                        <a:rPr sz="1800">
                          <a:solidFill>
                            <a:srgbClr val="183B2E"/>
                          </a:solidFill>
                          <a:latin typeface="DejaVu Sans"/>
                          <a:ea typeface="DejaVu Sans"/>
                          <a:cs typeface="DejaVu Sans"/>
                        </a:rPr>
                        <a:t>JSON, CSV and charts</a:t>
                      </a:r>
                    </a:p>
                  </a:txBody>
                  <a:tcPr marL="152400" marR="152400" marT="114300" marB="114300">
                    <a:solidFill>
                      <a:srgbClr val="FFFFFF"/>
                    </a:solidFill>
                  </a:tcPr>
                </a:tc>
              </a:tr>
            </a:tbl>
          </a:graphicData>
        </a:graphic>
      </p:graphicFrame>
      <p:sp>
        <p:nvSpPr>
          <p:cNvPr id="4" name="body">
            <a:extLst xmlns:a="http://schemas.openxmlformats.org/drawingml/2006/main">
              <a:ext uri="{FF2B5EF4-FFF2-40B4-BE49-F238E27FC236}">
                <a16:creationId xmlns:a16="http://schemas.microsoft.com/office/drawing/2014/main" id="{BE14A22B-ECF1-43ED-94B7-880E9B392107}"/>
              </a:ext>
            </a:extLst>
          </p:cNvPr>
          <p:cNvSpPr>
            <a:spLocks xmlns:a="http://schemas.openxmlformats.org/drawingml/2006/main" noGrp="1"/>
          </p:cNvSpPr>
          <p:nvPr/>
        </p:nvSpPr>
        <p:spPr>
          <a:xfrm xmlns:a="http://schemas.openxmlformats.org/drawingml/2006/main">
            <a:off x="609600" y="57531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2D7155"/>
                </a:solidFill>
                <a:latin typeface="DejaVu Sans"/>
                <a:ea typeface="DejaVu Sans"/>
                <a:cs typeface="DejaVu Sans"/>
              </a:defRPr>
            </a:defPPr>
          </a:lstStyle>
          <a:p xmlns:a="http://schemas.openxmlformats.org/drawingml/2006/main">
            <a:pPr>
              <a:defRPr sz="2175" b="1">
                <a:solidFill>
                  <a:srgbClr val="2D7155"/>
                </a:solidFill>
                <a:latin typeface="DejaVu Sans"/>
                <a:ea typeface="DejaVu Sans"/>
                <a:cs typeface="DejaVu Sans"/>
              </a:defRPr>
            </a:pPr>
            <a:r>
              <a:rPr sz="2175" b="1">
                <a:solidFill>
                  <a:srgbClr val="2D7155"/>
                </a:solidFill>
                <a:latin typeface="DejaVu Sans"/>
                <a:ea typeface="DejaVu Sans"/>
                <a:cs typeface="DejaVu Sans"/>
              </a:rPr>
              <a:t>Live and replay portfolios stay separate.</a:t>
            </a:r>
          </a:p>
        </p:txBody>
      </p:sp>
    </p:spTree>
    <p:extLst>
      <p:ext uri="{BB962C8B-B14F-4D97-AF65-F5344CB8AC3E}">
        <p14:creationId xmlns:p14="http://schemas.microsoft.com/office/powerpoint/2010/main" val="1847003121"/>
      </p:ext>
    </p:extLst>
  </p:cSld>
</p:sld>
</file>

<file path=ppt/slides/slide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AB492C65-39AE-4DE7-BA2A-D20832256787}"/>
              </a:ext>
            </a:extLst>
          </p:cNvPr>
          <p:cNvSpPr>
            <a:spLocks xmlns:a="http://schemas.openxmlformats.org/drawingml/2006/main" noGrp="1"/>
          </p:cNvSpPr>
          <p:nvPr/>
        </p:nvSpPr>
        <p:spPr>
          <a:xfrm xmlns:a="http://schemas.openxmlformats.org/drawingml/2006/main">
            <a:off x="609600" y="4953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183B2E"/>
                </a:solidFill>
                <a:latin typeface="DejaVu Sans"/>
                <a:ea typeface="DejaVu Sans"/>
                <a:cs typeface="DejaVu Sans"/>
              </a:defRPr>
            </a:defPPr>
          </a:lstStyle>
          <a:p xmlns:a="http://schemas.openxmlformats.org/drawingml/2006/main">
            <a:pPr>
              <a:defRPr sz="3375" b="1">
                <a:solidFill>
                  <a:srgbClr val="183B2E"/>
                </a:solidFill>
                <a:latin typeface="DejaVu Sans"/>
                <a:ea typeface="DejaVu Sans"/>
                <a:cs typeface="DejaVu Sans"/>
              </a:defRPr>
            </a:pPr>
            <a:r>
              <a:rPr sz="3375" b="1">
                <a:solidFill>
                  <a:srgbClr val="183B2E"/>
                </a:solidFill>
                <a:latin typeface="DejaVu Sans"/>
                <a:ea typeface="DejaVu Sans"/>
                <a:cs typeface="DejaVu Sans"/>
              </a:rPr>
              <a:t>An inspectable risk signal</a:t>
            </a:r>
          </a:p>
        </p:txBody>
      </p:sp>
      <p:sp>
        <p:nvSpPr>
          <p:cNvPr id="2" name="folio">
            <a:extLst xmlns:a="http://schemas.openxmlformats.org/drawingml/2006/main">
              <a:ext uri="{FF2B5EF4-FFF2-40B4-BE49-F238E27FC236}">
                <a16:creationId xmlns:a16="http://schemas.microsoft.com/office/drawing/2014/main" id="{017B5E03-F00E-4E77-9B8D-F02865404085}"/>
              </a:ext>
            </a:extLst>
          </p:cNvPr>
          <p:cNvSpPr>
            <a:spLocks xmlns:a="http://schemas.openxmlformats.org/drawingml/2006/main" noGrp="1"/>
          </p:cNvSpPr>
          <p:nvPr/>
        </p:nvSpPr>
        <p:spPr>
          <a:xfrm xmlns:a="http://schemas.openxmlformats.org/drawingml/2006/main">
            <a:off x="11334750" y="6362700"/>
            <a:ext cx="28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6665B"/>
                </a:solidFill>
                <a:latin typeface="DejaVu Sans"/>
                <a:ea typeface="DejaVu Sans"/>
                <a:cs typeface="DejaVu Sans"/>
              </a:defRPr>
            </a:defPPr>
          </a:lstStyle>
          <a:p xmlns:a="http://schemas.openxmlformats.org/drawingml/2006/main">
            <a:pPr>
              <a:defRPr sz="1350" b="0">
                <a:solidFill>
                  <a:srgbClr val="56665B"/>
                </a:solidFill>
                <a:latin typeface="DejaVu Sans"/>
                <a:ea typeface="DejaVu Sans"/>
                <a:cs typeface="DejaVu Sans"/>
              </a:defRPr>
            </a:pPr>
            <a:r>
              <a:rPr sz="1350" b="0">
                <a:solidFill>
                  <a:srgbClr val="56665B"/>
                </a:solidFill>
                <a:latin typeface="DejaVu Sans"/>
                <a:ea typeface="DejaVu Sans"/>
                <a:cs typeface="DejaVu Sans"/>
              </a:rPr>
              <a:t>4</a:t>
            </a:r>
          </a:p>
        </p:txBody>
      </p:sp>
      <p:sp>
        <p:nvSpPr>
          <p:cNvPr id="3" name="body">
            <a:extLst xmlns:a="http://schemas.openxmlformats.org/drawingml/2006/main">
              <a:ext uri="{FF2B5EF4-FFF2-40B4-BE49-F238E27FC236}">
                <a16:creationId xmlns:a16="http://schemas.microsoft.com/office/drawing/2014/main" id="{5CD77AAC-2F78-4B53-B007-5D2C3F377A9F}"/>
              </a:ext>
            </a:extLst>
          </p:cNvPr>
          <p:cNvSpPr>
            <a:spLocks xmlns:a="http://schemas.openxmlformats.org/drawingml/2006/main" noGrp="1"/>
          </p:cNvSpPr>
          <p:nvPr/>
        </p:nvSpPr>
        <p:spPr>
          <a:xfrm xmlns:a="http://schemas.openxmlformats.org/drawingml/2006/main">
            <a:off x="609600" y="1381125"/>
            <a:ext cx="1076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83B2E"/>
                </a:solidFill>
                <a:latin typeface="DejaVu Sans"/>
                <a:ea typeface="DejaVu Sans"/>
                <a:cs typeface="DejaVu Sans"/>
              </a:defRPr>
            </a:defPPr>
          </a:lstStyle>
          <a:p xmlns:a="http://schemas.openxmlformats.org/drawingml/2006/main">
            <a:pPr>
              <a:defRPr sz="2100" b="0">
                <a:solidFill>
                  <a:srgbClr val="183B2E"/>
                </a:solidFill>
                <a:latin typeface="DejaVu Sans"/>
                <a:ea typeface="DejaVu Sans"/>
                <a:cs typeface="DejaVu Sans"/>
              </a:defRPr>
            </a:pPr>
            <a:r>
              <a:rPr sz="2100" b="0">
                <a:solidFill>
                  <a:srgbClr val="183B2E"/>
                </a:solidFill>
                <a:latin typeface="DejaVu Sans"/>
                <a:ea typeface="DejaVu Sans"/>
                <a:cs typeface="DejaVu Sans"/>
              </a:rPr>
              <a:t>Synthetic: JPMorgan faces a major liquidity crisis</a:t>
            </a:r>
          </a:p>
          <a:p xmlns:a="http://schemas.openxmlformats.org/drawingml/2006/main">
            <a:pPr>
              <a:defRPr sz="2100" b="0">
                <a:solidFill>
                  <a:srgbClr val="183B2E"/>
                </a:solidFill>
                <a:latin typeface="DejaVu Sans"/>
                <a:ea typeface="DejaVu Sans"/>
                <a:cs typeface="DejaVu Sans"/>
              </a:defRPr>
            </a:pPr>
            <a:r>
              <a:rPr sz="2100" b="0">
                <a:solidFill>
                  <a:srgbClr val="183B2E"/>
                </a:solidFill>
                <a:latin typeface="DejaVu Sans"/>
                <a:ea typeface="DejaVu Sans"/>
                <a:cs typeface="DejaVu Sans"/>
              </a:rPr>
              <a:t>and missed repayment.</a:t>
            </a:r>
          </a:p>
        </p:txBody>
      </p:sp>
      <p:graphicFrame>
        <p:nvGraphicFramePr>
          <p:cNvPr id="4" name="">
            <a:extLst xmlns:a="http://schemas.openxmlformats.org/drawingml/2006/main">
              <a:ext uri="{FF2B5EF4-FFF2-40B4-BE49-F238E27FC236}">
                <a16:creationId xmlns:a16="http://schemas.microsoft.com/office/drawing/2014/main" id="{A9C8B1B3-97C0-4334-9DB2-E359B1C28333}"/>
              </a:ext>
            </a:extLst>
          </p:cNvPr>
          <p:cNvGraphicFramePr/>
          <p:nvPr/>
        </p:nvGraphicFramePr>
        <p:xfrm>
          <a:off xmlns:a="http://schemas.openxmlformats.org/drawingml/2006/main" x="609600" y="2733675"/>
          <a:ext xmlns:a="http://schemas.openxmlformats.org/drawingml/2006/main" cx="5953125" cy="2924175"/>
        </p:xfrm>
        <a:graphic xmlns:a="http://schemas.openxmlformats.org/drawingml/2006/main">
          <a:graphicData uri="http://schemas.openxmlformats.org/drawingml/2006/table">
            <a:tbl>
              <a:tblPr firstRow="0" bandRow="0"/>
              <a:tblGrid>
                <a:gridCol w="2647950"/>
                <a:gridCol w="3305175"/>
              </a:tblGrid>
              <a:tr h="584835">
                <a:tc>
                  <a:txBody>
                    <a:bodyPr/>
                    <a:lstStyle/>
                    <a:p>
                      <a:r>
                        <a:rPr sz="1875" b="1">
                          <a:solidFill>
                            <a:srgbClr val="FFFFFF"/>
                          </a:solidFill>
                          <a:latin typeface="DejaVu Sans"/>
                          <a:ea typeface="DejaVu Sans"/>
                          <a:cs typeface="DejaVu Sans"/>
                        </a:rPr>
                        <a:t>Signal field</a:t>
                      </a:r>
                    </a:p>
                  </a:txBody>
                  <a:tcPr marL="152400" marR="152400" marT="114300" marB="114300">
                    <a:solidFill>
                      <a:srgbClr val="183B2E"/>
                    </a:solidFill>
                  </a:tcPr>
                </a:tc>
                <a:tc>
                  <a:txBody>
                    <a:bodyPr/>
                    <a:lstStyle/>
                    <a:p>
                      <a:r>
                        <a:rPr sz="1875" b="1">
                          <a:solidFill>
                            <a:srgbClr val="FFFFFF"/>
                          </a:solidFill>
                          <a:latin typeface="DejaVu Sans"/>
                          <a:ea typeface="DejaVu Sans"/>
                          <a:cs typeface="DejaVu Sans"/>
                        </a:rPr>
                        <a:t>Actual output</a:t>
                      </a:r>
                    </a:p>
                  </a:txBody>
                  <a:tcPr marL="152400" marR="152400" marT="114300" marB="114300">
                    <a:solidFill>
                      <a:srgbClr val="183B2E"/>
                    </a:solidFill>
                  </a:tcPr>
                </a:tc>
              </a:tr>
              <a:tr h="584835">
                <a:tc>
                  <a:txBody>
                    <a:bodyPr/>
                    <a:lstStyle/>
                    <a:p>
                      <a:r>
                        <a:rPr sz="1875">
                          <a:solidFill>
                            <a:srgbClr val="183B2E"/>
                          </a:solidFill>
                          <a:latin typeface="DejaVu Sans"/>
                          <a:ea typeface="DejaVu Sans"/>
                          <a:cs typeface="DejaVu Sans"/>
                        </a:rPr>
                        <a:t>Sentiment</a:t>
                      </a:r>
                    </a:p>
                  </a:txBody>
                  <a:tcPr marL="152400" marR="152400" marT="114300" marB="114300">
                    <a:solidFill>
                      <a:srgbClr val="FFFFFF"/>
                    </a:solidFill>
                  </a:tcPr>
                </a:tc>
                <a:tc>
                  <a:txBody>
                    <a:bodyPr/>
                    <a:lstStyle/>
                    <a:p>
                      <a:r>
                        <a:rPr sz="1875">
                          <a:solidFill>
                            <a:srgbClr val="183B2E"/>
                          </a:solidFill>
                          <a:latin typeface="DejaVu Sans"/>
                          <a:ea typeface="DejaVu Sans"/>
                          <a:cs typeface="DejaVu Sans"/>
                        </a:rPr>
                        <a:t>-0.9585</a:t>
                      </a:r>
                    </a:p>
                  </a:txBody>
                  <a:tcPr marL="152400" marR="152400" marT="114300" marB="114300">
                    <a:solidFill>
                      <a:srgbClr val="FFFFFF"/>
                    </a:solidFill>
                  </a:tcPr>
                </a:tc>
              </a:tr>
              <a:tr h="584835">
                <a:tc>
                  <a:txBody>
                    <a:bodyPr/>
                    <a:lstStyle/>
                    <a:p>
                      <a:r>
                        <a:rPr sz="1875">
                          <a:solidFill>
                            <a:srgbClr val="183B2E"/>
                          </a:solidFill>
                          <a:latin typeface="DejaVu Sans"/>
                          <a:ea typeface="DejaVu Sans"/>
                          <a:cs typeface="DejaVu Sans"/>
                        </a:rPr>
                        <a:t>Event</a:t>
                      </a:r>
                    </a:p>
                  </a:txBody>
                  <a:tcPr marL="152400" marR="152400" marT="114300" marB="114300">
                    <a:solidFill>
                      <a:srgbClr val="FFFFFF"/>
                    </a:solidFill>
                  </a:tcPr>
                </a:tc>
                <a:tc>
                  <a:txBody>
                    <a:bodyPr/>
                    <a:lstStyle/>
                    <a:p>
                      <a:r>
                        <a:rPr sz="1875">
                          <a:solidFill>
                            <a:srgbClr val="183B2E"/>
                          </a:solidFill>
                          <a:latin typeface="DejaVu Sans"/>
                          <a:ea typeface="DejaVu Sans"/>
                          <a:cs typeface="DejaVu Sans"/>
                        </a:rPr>
                        <a:t>Credit Event</a:t>
                      </a:r>
                    </a:p>
                  </a:txBody>
                  <a:tcPr marL="152400" marR="152400" marT="114300" marB="114300">
                    <a:solidFill>
                      <a:srgbClr val="FFFFFF"/>
                    </a:solidFill>
                  </a:tcPr>
                </a:tc>
              </a:tr>
              <a:tr h="584835">
                <a:tc>
                  <a:txBody>
                    <a:bodyPr/>
                    <a:lstStyle/>
                    <a:p>
                      <a:r>
                        <a:rPr sz="1875">
                          <a:solidFill>
                            <a:srgbClr val="183B2E"/>
                          </a:solidFill>
                          <a:latin typeface="DejaVu Sans"/>
                          <a:ea typeface="DejaVu Sans"/>
                          <a:cs typeface="DejaVu Sans"/>
                        </a:rPr>
                        <a:t>Impact</a:t>
                      </a:r>
                    </a:p>
                  </a:txBody>
                  <a:tcPr marL="152400" marR="152400" marT="114300" marB="114300">
                    <a:solidFill>
                      <a:srgbClr val="FFFFFF"/>
                    </a:solidFill>
                  </a:tcPr>
                </a:tc>
                <a:tc>
                  <a:txBody>
                    <a:bodyPr/>
                    <a:lstStyle/>
                    <a:p>
                      <a:r>
                        <a:rPr sz="1875">
                          <a:solidFill>
                            <a:srgbClr val="183B2E"/>
                          </a:solidFill>
                          <a:latin typeface="DejaVu Sans"/>
                          <a:ea typeface="DejaVu Sans"/>
                          <a:cs typeface="DejaVu Sans"/>
                        </a:rPr>
                        <a:t>10 / 10</a:t>
                      </a:r>
                    </a:p>
                  </a:txBody>
                  <a:tcPr marL="152400" marR="152400" marT="114300" marB="114300">
                    <a:solidFill>
                      <a:srgbClr val="FFFFFF"/>
                    </a:solidFill>
                  </a:tcPr>
                </a:tc>
              </a:tr>
              <a:tr h="584835">
                <a:tc>
                  <a:txBody>
                    <a:bodyPr/>
                    <a:lstStyle/>
                    <a:p>
                      <a:r>
                        <a:rPr sz="1875">
                          <a:solidFill>
                            <a:srgbClr val="183B2E"/>
                          </a:solidFill>
                          <a:latin typeface="DejaVu Sans"/>
                          <a:ea typeface="DejaVu Sans"/>
                          <a:cs typeface="DejaVu Sans"/>
                        </a:rPr>
                        <a:t>Confidence</a:t>
                      </a:r>
                    </a:p>
                  </a:txBody>
                  <a:tcPr marL="152400" marR="152400" marT="114300" marB="114300">
                    <a:solidFill>
                      <a:srgbClr val="FFFFFF"/>
                    </a:solidFill>
                  </a:tcPr>
                </a:tc>
                <a:tc>
                  <a:txBody>
                    <a:bodyPr/>
                    <a:lstStyle/>
                    <a:p>
                      <a:r>
                        <a:rPr sz="1875">
                          <a:solidFill>
                            <a:srgbClr val="183B2E"/>
                          </a:solidFill>
                          <a:latin typeface="DejaVu Sans"/>
                          <a:ea typeface="DejaVu Sans"/>
                          <a:cs typeface="DejaVu Sans"/>
                        </a:rPr>
                        <a:t>96.73%</a:t>
                      </a:r>
                    </a:p>
                  </a:txBody>
                  <a:tcPr marL="152400" marR="152400" marT="114300" marB="114300">
                    <a:solidFill>
                      <a:srgbClr val="FFFFFF"/>
                    </a:solidFill>
                  </a:tcPr>
                </a:tc>
              </a:tr>
            </a:tbl>
          </a:graphicData>
        </a:graphic>
      </p:graphicFrame>
      <p:sp>
        <p:nvSpPr>
          <p:cNvPr id="5" name="body">
            <a:extLst xmlns:a="http://schemas.openxmlformats.org/drawingml/2006/main">
              <a:ext uri="{FF2B5EF4-FFF2-40B4-BE49-F238E27FC236}">
                <a16:creationId xmlns:a16="http://schemas.microsoft.com/office/drawing/2014/main" id="{666EC139-0A06-4987-9E81-B0FCA22C261C}"/>
              </a:ext>
            </a:extLst>
          </p:cNvPr>
          <p:cNvSpPr>
            <a:spLocks xmlns:a="http://schemas.openxmlformats.org/drawingml/2006/main" noGrp="1"/>
          </p:cNvSpPr>
          <p:nvPr/>
        </p:nvSpPr>
        <p:spPr>
          <a:xfrm xmlns:a="http://schemas.openxmlformats.org/drawingml/2006/main">
            <a:off x="7029450" y="27813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2D7155"/>
                </a:solidFill>
                <a:latin typeface="DejaVu Sans"/>
                <a:ea typeface="DejaVu Sans"/>
                <a:cs typeface="DejaVu Sans"/>
              </a:defRPr>
            </a:defPPr>
          </a:lstStyle>
          <a:p xmlns:a="http://schemas.openxmlformats.org/drawingml/2006/main">
            <a:pPr>
              <a:defRPr sz="2250" b="1">
                <a:solidFill>
                  <a:srgbClr val="2D7155"/>
                </a:solidFill>
                <a:latin typeface="DejaVu Sans"/>
                <a:ea typeface="DejaVu Sans"/>
                <a:cs typeface="DejaVu Sans"/>
              </a:defRPr>
            </a:pPr>
            <a:r>
              <a:rPr sz="2250" b="1">
                <a:solidFill>
                  <a:srgbClr val="2D7155"/>
                </a:solidFill>
                <a:latin typeface="DejaVu Sans"/>
                <a:ea typeface="DejaVu Sans"/>
                <a:cs typeface="DejaVu Sans"/>
              </a:rPr>
              <a:t>Sentiment</a:t>
            </a:r>
          </a:p>
        </p:txBody>
      </p:sp>
      <p:sp>
        <p:nvSpPr>
          <p:cNvPr id="6" name="body">
            <a:extLst xmlns:a="http://schemas.openxmlformats.org/drawingml/2006/main">
              <a:ext uri="{FF2B5EF4-FFF2-40B4-BE49-F238E27FC236}">
                <a16:creationId xmlns:a16="http://schemas.microsoft.com/office/drawing/2014/main" id="{2D16EB2B-4140-4A98-A3EF-D71C9F1D4901}"/>
              </a:ext>
            </a:extLst>
          </p:cNvPr>
          <p:cNvSpPr>
            <a:spLocks xmlns:a="http://schemas.openxmlformats.org/drawingml/2006/main" noGrp="1"/>
          </p:cNvSpPr>
          <p:nvPr/>
        </p:nvSpPr>
        <p:spPr>
          <a:xfrm xmlns:a="http://schemas.openxmlformats.org/drawingml/2006/main">
            <a:off x="7029450" y="3257550"/>
            <a:ext cx="4171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83B2E"/>
                </a:solidFill>
                <a:latin typeface="DejaVu Sans"/>
                <a:ea typeface="DejaVu Sans"/>
                <a:cs typeface="DejaVu Sans"/>
              </a:defRPr>
            </a:defPPr>
          </a:lstStyle>
          <a:p xmlns:a="http://schemas.openxmlformats.org/drawingml/2006/main">
            <a:pPr>
              <a:defRPr sz="1875" b="0">
                <a:solidFill>
                  <a:srgbClr val="183B2E"/>
                </a:solidFill>
                <a:latin typeface="DejaVu Sans"/>
                <a:ea typeface="DejaVu Sans"/>
                <a:cs typeface="DejaVu Sans"/>
              </a:defRPr>
            </a:pPr>
            <a:r>
              <a:rPr sz="1875" b="0">
                <a:solidFill>
                  <a:srgbClr val="183B2E"/>
                </a:solidFill>
                <a:latin typeface="DejaVu Sans"/>
                <a:ea typeface="DejaVu Sans"/>
                <a:cs typeface="DejaVu Sans"/>
              </a:rPr>
              <a:t>FinBERT estimates the financial tone of the company context.</a:t>
            </a:r>
          </a:p>
        </p:txBody>
      </p:sp>
      <p:sp>
        <p:nvSpPr>
          <p:cNvPr id="7" name="body">
            <a:extLst xmlns:a="http://schemas.openxmlformats.org/drawingml/2006/main">
              <a:ext uri="{FF2B5EF4-FFF2-40B4-BE49-F238E27FC236}">
                <a16:creationId xmlns:a16="http://schemas.microsoft.com/office/drawing/2014/main" id="{4154A3B0-AE6E-446C-B579-4ED756AC84D0}"/>
              </a:ext>
            </a:extLst>
          </p:cNvPr>
          <p:cNvSpPr>
            <a:spLocks xmlns:a="http://schemas.openxmlformats.org/drawingml/2006/main" noGrp="1"/>
          </p:cNvSpPr>
          <p:nvPr/>
        </p:nvSpPr>
        <p:spPr>
          <a:xfrm xmlns:a="http://schemas.openxmlformats.org/drawingml/2006/main">
            <a:off x="7029450" y="4267200"/>
            <a:ext cx="421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2D7155"/>
                </a:solidFill>
                <a:latin typeface="DejaVu Sans"/>
                <a:ea typeface="DejaVu Sans"/>
                <a:cs typeface="DejaVu Sans"/>
              </a:defRPr>
            </a:defPPr>
          </a:lstStyle>
          <a:p xmlns:a="http://schemas.openxmlformats.org/drawingml/2006/main">
            <a:pPr>
              <a:defRPr sz="2250" b="1">
                <a:solidFill>
                  <a:srgbClr val="2D7155"/>
                </a:solidFill>
                <a:latin typeface="DejaVu Sans"/>
                <a:ea typeface="DejaVu Sans"/>
                <a:cs typeface="DejaVu Sans"/>
              </a:defRPr>
            </a:pPr>
            <a:r>
              <a:rPr sz="2250" b="1">
                <a:solidFill>
                  <a:srgbClr val="2D7155"/>
                </a:solidFill>
                <a:latin typeface="DejaVu Sans"/>
                <a:ea typeface="DejaVu Sans"/>
                <a:cs typeface="DejaVu Sans"/>
              </a:rPr>
              <a:t>Event and severity</a:t>
            </a:r>
          </a:p>
        </p:txBody>
      </p:sp>
      <p:sp>
        <p:nvSpPr>
          <p:cNvPr id="8" name="body">
            <a:extLst xmlns:a="http://schemas.openxmlformats.org/drawingml/2006/main">
              <a:ext uri="{FF2B5EF4-FFF2-40B4-BE49-F238E27FC236}">
                <a16:creationId xmlns:a16="http://schemas.microsoft.com/office/drawing/2014/main" id="{08543CF9-4A67-4387-997B-DDBBE34D08DD}"/>
              </a:ext>
            </a:extLst>
          </p:cNvPr>
          <p:cNvSpPr>
            <a:spLocks xmlns:a="http://schemas.openxmlformats.org/drawingml/2006/main" noGrp="1"/>
          </p:cNvSpPr>
          <p:nvPr/>
        </p:nvSpPr>
        <p:spPr>
          <a:xfrm xmlns:a="http://schemas.openxmlformats.org/drawingml/2006/main">
            <a:off x="7029450" y="4743450"/>
            <a:ext cx="4171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83B2E"/>
                </a:solidFill>
                <a:latin typeface="DejaVu Sans"/>
                <a:ea typeface="DejaVu Sans"/>
                <a:cs typeface="DejaVu Sans"/>
              </a:defRPr>
            </a:defPPr>
          </a:lstStyle>
          <a:p xmlns:a="http://schemas.openxmlformats.org/drawingml/2006/main">
            <a:pPr>
              <a:defRPr sz="1875" b="0">
                <a:solidFill>
                  <a:srgbClr val="183B2E"/>
                </a:solidFill>
                <a:latin typeface="DejaVu Sans"/>
                <a:ea typeface="DejaVu Sans"/>
                <a:cs typeface="DejaVu Sans"/>
              </a:defRPr>
            </a:pPr>
            <a:r>
              <a:rPr sz="1875" b="0">
                <a:solidFill>
                  <a:srgbClr val="183B2E"/>
                </a:solidFill>
                <a:latin typeface="DejaVu Sans"/>
                <a:ea typeface="DejaVu Sans"/>
                <a:cs typeface="DejaVu Sans"/>
              </a:rPr>
              <a:t>Matched phrases and severity cues explain the rule output.</a:t>
            </a:r>
          </a:p>
        </p:txBody>
      </p:sp>
      <p:sp>
        <p:nvSpPr>
          <p:cNvPr id="9" name="body">
            <a:extLst xmlns:a="http://schemas.openxmlformats.org/drawingml/2006/main">
              <a:ext uri="{FF2B5EF4-FFF2-40B4-BE49-F238E27FC236}">
                <a16:creationId xmlns:a16="http://schemas.microsoft.com/office/drawing/2014/main" id="{0E657274-01CF-41E1-AA71-CCA9BEFC17AA}"/>
              </a:ext>
            </a:extLst>
          </p:cNvPr>
          <p:cNvSpPr>
            <a:spLocks xmlns:a="http://schemas.openxmlformats.org/drawingml/2006/main" noGrp="1"/>
          </p:cNvSpPr>
          <p:nvPr/>
        </p:nvSpPr>
        <p:spPr>
          <a:xfrm xmlns:a="http://schemas.openxmlformats.org/drawingml/2006/main">
            <a:off x="609600" y="601027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916327"/>
                </a:solidFill>
                <a:latin typeface="DejaVu Sans"/>
                <a:ea typeface="DejaVu Sans"/>
                <a:cs typeface="DejaVu Sans"/>
              </a:defRPr>
            </a:defPPr>
          </a:lstStyle>
          <a:p xmlns:a="http://schemas.openxmlformats.org/drawingml/2006/main">
            <a:pPr>
              <a:defRPr sz="1725" b="0">
                <a:solidFill>
                  <a:srgbClr val="916327"/>
                </a:solidFill>
                <a:latin typeface="DejaVu Sans"/>
                <a:ea typeface="DejaVu Sans"/>
                <a:cs typeface="DejaVu Sans"/>
              </a:defRPr>
            </a:pPr>
            <a:r>
              <a:rPr sz="1725" b="0">
                <a:solidFill>
                  <a:srgbClr val="916327"/>
                </a:solidFill>
                <a:latin typeface="DejaVu Sans"/>
                <a:ea typeface="DejaVu Sans"/>
                <a:cs typeface="DejaVu Sans"/>
              </a:rPr>
              <a:t>Impact is a severity estimate. It does not forecast a price change.</a:t>
            </a:r>
          </a:p>
        </p:txBody>
      </p:sp>
    </p:spTree>
    <p:extLst>
      <p:ext uri="{BB962C8B-B14F-4D97-AF65-F5344CB8AC3E}">
        <p14:creationId xmlns:p14="http://schemas.microsoft.com/office/powerpoint/2010/main" val="502324417"/>
      </p:ext>
    </p:extLst>
  </p:cSld>
</p:sld>
</file>

<file path=ppt/slides/slide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9EF5DCA-3C73-4F11-AF3D-AFCD19AA3620}"/>
              </a:ext>
            </a:extLst>
          </p:cNvPr>
          <p:cNvSpPr>
            <a:spLocks xmlns:a="http://schemas.openxmlformats.org/drawingml/2006/main" noGrp="1"/>
          </p:cNvSpPr>
          <p:nvPr/>
        </p:nvSpPr>
        <p:spPr>
          <a:xfrm xmlns:a="http://schemas.openxmlformats.org/drawingml/2006/main">
            <a:off x="609600" y="4953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183B2E"/>
                </a:solidFill>
                <a:latin typeface="DejaVu Sans"/>
                <a:ea typeface="DejaVu Sans"/>
                <a:cs typeface="DejaVu Sans"/>
              </a:defRPr>
            </a:defPPr>
          </a:lstStyle>
          <a:p xmlns:a="http://schemas.openxmlformats.org/drawingml/2006/main">
            <a:pPr>
              <a:defRPr sz="3375" b="1">
                <a:solidFill>
                  <a:srgbClr val="183B2E"/>
                </a:solidFill>
                <a:latin typeface="DejaVu Sans"/>
                <a:ea typeface="DejaVu Sans"/>
                <a:cs typeface="DejaVu Sans"/>
              </a:defRPr>
            </a:pPr>
            <a:r>
              <a:rPr sz="3375" b="1">
                <a:solidFill>
                  <a:srgbClr val="183B2E"/>
                </a:solidFill>
                <a:latin typeface="DejaVu Sans"/>
                <a:ea typeface="DejaVu Sans"/>
                <a:cs typeface="DejaVu Sans"/>
              </a:rPr>
              <a:t>Sentiment changes index weights</a:t>
            </a:r>
          </a:p>
        </p:txBody>
      </p:sp>
      <p:sp>
        <p:nvSpPr>
          <p:cNvPr id="2" name="folio">
            <a:extLst xmlns:a="http://schemas.openxmlformats.org/drawingml/2006/main">
              <a:ext uri="{FF2B5EF4-FFF2-40B4-BE49-F238E27FC236}">
                <a16:creationId xmlns:a16="http://schemas.microsoft.com/office/drawing/2014/main" id="{3DEAE66C-189C-4428-AF35-95AE6AD42CAE}"/>
              </a:ext>
            </a:extLst>
          </p:cNvPr>
          <p:cNvSpPr>
            <a:spLocks xmlns:a="http://schemas.openxmlformats.org/drawingml/2006/main" noGrp="1"/>
          </p:cNvSpPr>
          <p:nvPr/>
        </p:nvSpPr>
        <p:spPr>
          <a:xfrm xmlns:a="http://schemas.openxmlformats.org/drawingml/2006/main">
            <a:off x="11334750" y="6362700"/>
            <a:ext cx="28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6665B"/>
                </a:solidFill>
                <a:latin typeface="DejaVu Sans"/>
                <a:ea typeface="DejaVu Sans"/>
                <a:cs typeface="DejaVu Sans"/>
              </a:defRPr>
            </a:defPPr>
          </a:lstStyle>
          <a:p xmlns:a="http://schemas.openxmlformats.org/drawingml/2006/main">
            <a:pPr>
              <a:defRPr sz="1350" b="0">
                <a:solidFill>
                  <a:srgbClr val="56665B"/>
                </a:solidFill>
                <a:latin typeface="DejaVu Sans"/>
                <a:ea typeface="DejaVu Sans"/>
                <a:cs typeface="DejaVu Sans"/>
              </a:defRPr>
            </a:pPr>
            <a:r>
              <a:rPr sz="1350" b="0">
                <a:solidFill>
                  <a:srgbClr val="56665B"/>
                </a:solidFill>
                <a:latin typeface="DejaVu Sans"/>
                <a:ea typeface="DejaVu Sans"/>
                <a:cs typeface="DejaVu Sans"/>
              </a:rPr>
              <a:t>5</a:t>
            </a:r>
          </a:p>
        </p:txBody>
      </p:sp>
      <p:sp>
        <p:nvSpPr>
          <p:cNvPr id="3" name="body">
            <a:extLst xmlns:a="http://schemas.openxmlformats.org/drawingml/2006/main">
              <a:ext uri="{FF2B5EF4-FFF2-40B4-BE49-F238E27FC236}">
                <a16:creationId xmlns:a16="http://schemas.microsoft.com/office/drawing/2014/main" id="{004EB36D-DED5-47FB-9B3E-4950C053EAEF}"/>
              </a:ext>
            </a:extLst>
          </p:cNvPr>
          <p:cNvSpPr>
            <a:spLocks xmlns:a="http://schemas.openxmlformats.org/drawingml/2006/main" noGrp="1"/>
          </p:cNvSpPr>
          <p:nvPr/>
        </p:nvSpPr>
        <p:spPr>
          <a:xfrm xmlns:a="http://schemas.openxmlformats.org/drawingml/2006/main">
            <a:off x="609600" y="12477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56665B"/>
                </a:solidFill>
                <a:latin typeface="DejaVu Sans"/>
                <a:ea typeface="DejaVu Sans"/>
                <a:cs typeface="DejaVu Sans"/>
              </a:defRPr>
            </a:defPPr>
          </a:lstStyle>
          <a:p xmlns:a="http://schemas.openxmlformats.org/drawingml/2006/main">
            <a:pPr>
              <a:defRPr sz="1800" b="0">
                <a:solidFill>
                  <a:srgbClr val="56665B"/>
                </a:solidFill>
                <a:latin typeface="DejaVu Sans"/>
                <a:ea typeface="DejaVu Sans"/>
                <a:cs typeface="DejaVu Sans"/>
              </a:defRPr>
            </a:pPr>
            <a:r>
              <a:rPr sz="1800" b="0">
                <a:solidFill>
                  <a:srgbClr val="56665B"/>
                </a:solidFill>
                <a:latin typeface="DejaVu Sans"/>
                <a:ea typeface="DejaVu Sans"/>
                <a:cs typeface="DejaVu Sans"/>
              </a:rPr>
              <a:t>12 fictional events. FinBERT backend. Separate replay portfolio.</a:t>
            </a:r>
          </a:p>
        </p:txBody>
      </p:sp>
      <p:graphicFrame>
        <p:nvGraphicFramePr>
          <p:cNvPr id="4" name="Chart">
            <a:extLst xmlns:a="http://schemas.openxmlformats.org/drawingml/2006/main">
              <a:ext uri="{FF2B5EF4-FFF2-40B4-BE49-F238E27FC236}">
                <a16:creationId xmlns:a16="http://schemas.microsoft.com/office/drawing/2014/main" id="{23C6AAA6-97A5-422B-ACAB-840D3B66AC16}"/>
              </a:ext>
            </a:extLst>
          </p:cNvPr>
          <p:cNvGraphicFramePr/>
          <p:nvPr/>
        </p:nvGraphicFramePr>
        <p:xfrm>
          <a:off xmlns:a="http://schemas.openxmlformats.org/drawingml/2006/main" x="571500" y="1885950"/>
          <a:ext xmlns:a="http://schemas.openxmlformats.org/drawingml/2006/main" cx="11049000" cy="3714750"/>
        </p:xfrm>
        <a:graphic xmlns:a="http://schemas.openxmlformats.org/drawingml/2006/main">
          <a:graphicData uri="http://schemas.openxmlformats.org/drawingml/2006/chart">
            <c:chart xmlns:r="http://schemas.openxmlformats.org/officeDocument/2006/relationships" xmlns:c="http://schemas.openxmlformats.org/drawingml/2006/chart" r:id="R7a4bb915acf6422c"/>
          </a:graphicData>
        </a:graphic>
      </p:graphicFrame>
      <p:sp>
        <p:nvSpPr>
          <p:cNvPr id="5" name="body">
            <a:extLst xmlns:a="http://schemas.openxmlformats.org/drawingml/2006/main">
              <a:ext uri="{FF2B5EF4-FFF2-40B4-BE49-F238E27FC236}">
                <a16:creationId xmlns:a16="http://schemas.microsoft.com/office/drawing/2014/main" id="{7C4378E6-D220-43C7-B0B1-8FA8A10762A7}"/>
              </a:ext>
            </a:extLst>
          </p:cNvPr>
          <p:cNvSpPr>
            <a:spLocks xmlns:a="http://schemas.openxmlformats.org/drawingml/2006/main" noGrp="1"/>
          </p:cNvSpPr>
          <p:nvPr/>
        </p:nvSpPr>
        <p:spPr>
          <a:xfrm xmlns:a="http://schemas.openxmlformats.org/drawingml/2006/main">
            <a:off x="609600" y="596265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83B2E"/>
                </a:solidFill>
                <a:latin typeface="DejaVu Sans"/>
                <a:ea typeface="DejaVu Sans"/>
                <a:cs typeface="DejaVu Sans"/>
              </a:defRPr>
            </a:defPPr>
          </a:lstStyle>
          <a:p xmlns:a="http://schemas.openxmlformats.org/drawingml/2006/main">
            <a:pPr>
              <a:defRPr sz="1875" b="0">
                <a:solidFill>
                  <a:srgbClr val="183B2E"/>
                </a:solidFill>
                <a:latin typeface="DejaVu Sans"/>
                <a:ea typeface="DejaVu Sans"/>
                <a:cs typeface="DejaVu Sans"/>
              </a:defRPr>
            </a:pPr>
            <a:r>
              <a:rPr sz="1875" b="0">
                <a:solidFill>
                  <a:srgbClr val="183B2E"/>
                </a:solidFill>
                <a:latin typeface="DejaVu Sans"/>
                <a:ea typeface="DejaVu Sans"/>
                <a:cs typeface="DejaVu Sans"/>
              </a:rPr>
              <a:t>100% allocation. Stock limits: 2% to 18%. Normal turnover limit: 10%.</a:t>
            </a:r>
          </a:p>
        </p:txBody>
      </p:sp>
    </p:spTree>
    <p:extLst>
      <p:ext uri="{BB962C8B-B14F-4D97-AF65-F5344CB8AC3E}">
        <p14:creationId xmlns:p14="http://schemas.microsoft.com/office/powerpoint/2010/main" val="71316719"/>
      </p:ext>
    </p:extLst>
  </p:cSld>
</p:sld>
</file>

<file path=ppt/slides/slide6.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7E61BC3-7CB6-4697-A3AD-67A107CC3011}"/>
              </a:ext>
            </a:extLst>
          </p:cNvPr>
          <p:cNvSpPr>
            <a:spLocks xmlns:a="http://schemas.openxmlformats.org/drawingml/2006/main" noGrp="1"/>
          </p:cNvSpPr>
          <p:nvPr/>
        </p:nvSpPr>
        <p:spPr>
          <a:xfrm xmlns:a="http://schemas.openxmlformats.org/drawingml/2006/main">
            <a:off x="609600" y="4953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183B2E"/>
                </a:solidFill>
                <a:latin typeface="DejaVu Sans"/>
                <a:ea typeface="DejaVu Sans"/>
                <a:cs typeface="DejaVu Sans"/>
              </a:defRPr>
            </a:defPPr>
          </a:lstStyle>
          <a:p xmlns:a="http://schemas.openxmlformats.org/drawingml/2006/main">
            <a:pPr>
              <a:defRPr sz="3375" b="1">
                <a:solidFill>
                  <a:srgbClr val="183B2E"/>
                </a:solidFill>
                <a:latin typeface="DejaVu Sans"/>
                <a:ea typeface="DejaVu Sans"/>
                <a:cs typeface="DejaVu Sans"/>
              </a:defRPr>
            </a:pPr>
            <a:r>
              <a:rPr sz="3375" b="1">
                <a:solidFill>
                  <a:srgbClr val="183B2E"/>
                </a:solidFill>
                <a:latin typeface="DejaVu Sans"/>
                <a:ea typeface="DejaVu Sans"/>
                <a:cs typeface="DejaVu Sans"/>
              </a:rPr>
              <a:t>Validation results</a:t>
            </a:r>
          </a:p>
        </p:txBody>
      </p:sp>
      <p:sp>
        <p:nvSpPr>
          <p:cNvPr id="2" name="folio">
            <a:extLst xmlns:a="http://schemas.openxmlformats.org/drawingml/2006/main">
              <a:ext uri="{FF2B5EF4-FFF2-40B4-BE49-F238E27FC236}">
                <a16:creationId xmlns:a16="http://schemas.microsoft.com/office/drawing/2014/main" id="{2A519A23-9DD4-4763-A363-D0CD88E8A319}"/>
              </a:ext>
            </a:extLst>
          </p:cNvPr>
          <p:cNvSpPr>
            <a:spLocks xmlns:a="http://schemas.openxmlformats.org/drawingml/2006/main" noGrp="1"/>
          </p:cNvSpPr>
          <p:nvPr/>
        </p:nvSpPr>
        <p:spPr>
          <a:xfrm xmlns:a="http://schemas.openxmlformats.org/drawingml/2006/main">
            <a:off x="11334750" y="6362700"/>
            <a:ext cx="28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6665B"/>
                </a:solidFill>
                <a:latin typeface="DejaVu Sans"/>
                <a:ea typeface="DejaVu Sans"/>
                <a:cs typeface="DejaVu Sans"/>
              </a:defRPr>
            </a:defPPr>
          </a:lstStyle>
          <a:p xmlns:a="http://schemas.openxmlformats.org/drawingml/2006/main">
            <a:pPr>
              <a:defRPr sz="1350" b="0">
                <a:solidFill>
                  <a:srgbClr val="56665B"/>
                </a:solidFill>
                <a:latin typeface="DejaVu Sans"/>
                <a:ea typeface="DejaVu Sans"/>
                <a:cs typeface="DejaVu Sans"/>
              </a:defRPr>
            </a:pPr>
            <a:r>
              <a:rPr sz="1350" b="0">
                <a:solidFill>
                  <a:srgbClr val="56665B"/>
                </a:solidFill>
                <a:latin typeface="DejaVu Sans"/>
                <a:ea typeface="DejaVu Sans"/>
                <a:cs typeface="DejaVu Sans"/>
              </a:rPr>
              <a:t>6</a:t>
            </a:r>
          </a:p>
        </p:txBody>
      </p:sp>
      <p:graphicFrame>
        <p:nvGraphicFramePr>
          <p:cNvPr id="3" name="">
            <a:extLst xmlns:a="http://schemas.openxmlformats.org/drawingml/2006/main">
              <a:ext uri="{FF2B5EF4-FFF2-40B4-BE49-F238E27FC236}">
                <a16:creationId xmlns:a16="http://schemas.microsoft.com/office/drawing/2014/main" id="{E8027917-3F8B-4A66-8614-798A635135A9}"/>
              </a:ext>
            </a:extLst>
          </p:cNvPr>
          <p:cNvGraphicFramePr/>
          <p:nvPr/>
        </p:nvGraphicFramePr>
        <p:xfrm>
          <a:off xmlns:a="http://schemas.openxmlformats.org/drawingml/2006/main" x="609600" y="1562100"/>
          <a:ext xmlns:a="http://schemas.openxmlformats.org/drawingml/2006/main" cx="10972800" cy="3257550"/>
        </p:xfrm>
        <a:graphic xmlns:a="http://schemas.openxmlformats.org/drawingml/2006/main">
          <a:graphicData uri="http://schemas.openxmlformats.org/drawingml/2006/table">
            <a:tbl>
              <a:tblPr firstRow="0" bandRow="0"/>
              <a:tblGrid>
                <a:gridCol w="3448050"/>
                <a:gridCol w="7524750"/>
              </a:tblGrid>
              <a:tr h="651510">
                <a:tc>
                  <a:txBody>
                    <a:bodyPr/>
                    <a:lstStyle/>
                    <a:p>
                      <a:r>
                        <a:rPr sz="1950" b="1">
                          <a:solidFill>
                            <a:srgbClr val="FFFFFF"/>
                          </a:solidFill>
                          <a:latin typeface="DejaVu Sans"/>
                          <a:ea typeface="DejaVu Sans"/>
                          <a:cs typeface="DejaVu Sans"/>
                        </a:rPr>
                        <a:t>Check</a:t>
                      </a:r>
                    </a:p>
                  </a:txBody>
                  <a:tcPr marL="152400" marR="152400" marT="114300" marB="114300">
                    <a:solidFill>
                      <a:srgbClr val="183B2E"/>
                    </a:solidFill>
                  </a:tcPr>
                </a:tc>
                <a:tc>
                  <a:txBody>
                    <a:bodyPr/>
                    <a:lstStyle/>
                    <a:p>
                      <a:r>
                        <a:rPr sz="1950" b="1">
                          <a:solidFill>
                            <a:srgbClr val="FFFFFF"/>
                          </a:solidFill>
                          <a:latin typeface="DejaVu Sans"/>
                          <a:ea typeface="DejaVu Sans"/>
                          <a:cs typeface="DejaVu Sans"/>
                        </a:rPr>
                        <a:t>Observed result</a:t>
                      </a:r>
                    </a:p>
                  </a:txBody>
                  <a:tcPr marL="152400" marR="152400" marT="114300" marB="114300">
                    <a:solidFill>
                      <a:srgbClr val="183B2E"/>
                    </a:solidFill>
                  </a:tcPr>
                </a:tc>
              </a:tr>
              <a:tr h="651510">
                <a:tc>
                  <a:txBody>
                    <a:bodyPr/>
                    <a:lstStyle/>
                    <a:p>
                      <a:r>
                        <a:rPr sz="1950">
                          <a:solidFill>
                            <a:srgbClr val="183B2E"/>
                          </a:solidFill>
                          <a:latin typeface="DejaVu Sans"/>
                          <a:ea typeface="DejaVu Sans"/>
                          <a:cs typeface="DejaVu Sans"/>
                        </a:rPr>
                        <a:t>Implementation</a:t>
                      </a:r>
                    </a:p>
                  </a:txBody>
                  <a:tcPr marL="152400" marR="152400" marT="114300" marB="114300">
                    <a:solidFill>
                      <a:srgbClr val="FFFFFF"/>
                    </a:solidFill>
                  </a:tcPr>
                </a:tc>
                <a:tc>
                  <a:txBody>
                    <a:bodyPr/>
                    <a:lstStyle/>
                    <a:p>
                      <a:r>
                        <a:rPr sz="1950">
                          <a:solidFill>
                            <a:srgbClr val="183B2E"/>
                          </a:solidFill>
                          <a:latin typeface="DejaVu Sans"/>
                          <a:ea typeface="DejaVu Sans"/>
                          <a:cs typeface="DejaVu Sans"/>
                        </a:rPr>
                        <a:t>28 automated tests passed</a:t>
                      </a:r>
                    </a:p>
                  </a:txBody>
                  <a:tcPr marL="152400" marR="152400" marT="114300" marB="114300">
                    <a:solidFill>
                      <a:srgbClr val="FFFFFF"/>
                    </a:solidFill>
                  </a:tcPr>
                </a:tc>
              </a:tr>
              <a:tr h="651510">
                <a:tc>
                  <a:txBody>
                    <a:bodyPr/>
                    <a:lstStyle/>
                    <a:p>
                      <a:r>
                        <a:rPr sz="1950">
                          <a:solidFill>
                            <a:srgbClr val="183B2E"/>
                          </a:solidFill>
                          <a:latin typeface="DejaVu Sans"/>
                          <a:ea typeface="DejaVu Sans"/>
                          <a:cs typeface="DejaVu Sans"/>
                        </a:rPr>
                        <a:t>Live ingestion</a:t>
                      </a:r>
                    </a:p>
                  </a:txBody>
                  <a:tcPr marL="152400" marR="152400" marT="114300" marB="114300">
                    <a:solidFill>
                      <a:srgbClr val="FFFFFF"/>
                    </a:solidFill>
                  </a:tcPr>
                </a:tc>
                <a:tc>
                  <a:txBody>
                    <a:bodyPr/>
                    <a:lstStyle/>
                    <a:p>
                      <a:r>
                        <a:rPr sz="1950">
                          <a:solidFill>
                            <a:srgbClr val="183B2E"/>
                          </a:solidFill>
                          <a:latin typeface="DejaVu Sans"/>
                          <a:ea typeface="DejaVu Sans"/>
                          <a:cs typeface="DejaVu Sans"/>
                        </a:rPr>
                        <a:t>50 items across 3 connectors</a:t>
                      </a:r>
                    </a:p>
                  </a:txBody>
                  <a:tcPr marL="152400" marR="152400" marT="114300" marB="114300">
                    <a:solidFill>
                      <a:srgbClr val="FFFFFF"/>
                    </a:solidFill>
                  </a:tcPr>
                </a:tc>
              </a:tr>
              <a:tr h="651510">
                <a:tc>
                  <a:txBody>
                    <a:bodyPr/>
                    <a:lstStyle/>
                    <a:p>
                      <a:r>
                        <a:rPr sz="1950">
                          <a:solidFill>
                            <a:srgbClr val="183B2E"/>
                          </a:solidFill>
                          <a:latin typeface="DejaVu Sans"/>
                          <a:ea typeface="DejaVu Sans"/>
                          <a:cs typeface="DejaVu Sans"/>
                        </a:rPr>
                        <a:t>Synthetic labels</a:t>
                      </a:r>
                    </a:p>
                  </a:txBody>
                  <a:tcPr marL="152400" marR="152400" marT="114300" marB="114300">
                    <a:solidFill>
                      <a:srgbClr val="FFFFFF"/>
                    </a:solidFill>
                  </a:tcPr>
                </a:tc>
                <a:tc>
                  <a:txBody>
                    <a:bodyPr/>
                    <a:lstStyle/>
                    <a:p>
                      <a:r>
                        <a:rPr sz="1950">
                          <a:solidFill>
                            <a:srgbClr val="183B2E"/>
                          </a:solidFill>
                          <a:latin typeface="DejaVu Sans"/>
                          <a:ea typeface="DejaVu Sans"/>
                          <a:cs typeface="DejaVu Sans"/>
                        </a:rPr>
                        <a:t>24/24 sentiment, 24/24 event</a:t>
                      </a:r>
                    </a:p>
                  </a:txBody>
                  <a:tcPr marL="152400" marR="152400" marT="114300" marB="114300">
                    <a:solidFill>
                      <a:srgbClr val="FFFFFF"/>
                    </a:solidFill>
                  </a:tcPr>
                </a:tc>
              </a:tr>
              <a:tr h="651510">
                <a:tc>
                  <a:txBody>
                    <a:bodyPr/>
                    <a:lstStyle/>
                    <a:p>
                      <a:r>
                        <a:rPr sz="1950">
                          <a:solidFill>
                            <a:srgbClr val="183B2E"/>
                          </a:solidFill>
                          <a:latin typeface="DejaVu Sans"/>
                          <a:ea typeface="DejaVu Sans"/>
                          <a:cs typeface="DejaVu Sans"/>
                        </a:rPr>
                        <a:t>Analysis time</a:t>
                      </a:r>
                    </a:p>
                  </a:txBody>
                  <a:tcPr marL="152400" marR="152400" marT="114300" marB="114300">
                    <a:solidFill>
                      <a:srgbClr val="FFFFFF"/>
                    </a:solidFill>
                  </a:tcPr>
                </a:tc>
                <a:tc>
                  <a:txBody>
                    <a:bodyPr/>
                    <a:lstStyle/>
                    <a:p>
                      <a:r>
                        <a:rPr sz="1950">
                          <a:solidFill>
                            <a:srgbClr val="183B2E"/>
                          </a:solidFill>
                          <a:latin typeface="DejaVu Sans"/>
                          <a:ea typeface="DejaVu Sans"/>
                          <a:cs typeface="DejaVu Sans"/>
                        </a:rPr>
                        <a:t>80.47 ms mean, 95.44 ms p95</a:t>
                      </a:r>
                    </a:p>
                  </a:txBody>
                  <a:tcPr marL="152400" marR="152400" marT="114300" marB="114300">
                    <a:solidFill>
                      <a:srgbClr val="FFFFFF"/>
                    </a:solidFill>
                  </a:tcPr>
                </a:tc>
              </a:tr>
            </a:tbl>
          </a:graphicData>
        </a:graphic>
      </p:graphicFrame>
      <p:sp>
        <p:nvSpPr>
          <p:cNvPr id="4" name="body">
            <a:extLst xmlns:a="http://schemas.openxmlformats.org/drawingml/2006/main">
              <a:ext uri="{FF2B5EF4-FFF2-40B4-BE49-F238E27FC236}">
                <a16:creationId xmlns:a16="http://schemas.microsoft.com/office/drawing/2014/main" id="{D90778C9-212D-42D5-92D7-C7515B6E45C4}"/>
              </a:ext>
            </a:extLst>
          </p:cNvPr>
          <p:cNvSpPr>
            <a:spLocks xmlns:a="http://schemas.openxmlformats.org/drawingml/2006/main" noGrp="1"/>
          </p:cNvSpPr>
          <p:nvPr/>
        </p:nvSpPr>
        <p:spPr>
          <a:xfrm xmlns:a="http://schemas.openxmlformats.org/drawingml/2006/main">
            <a:off x="609600" y="5238750"/>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2D7155"/>
                </a:solidFill>
                <a:latin typeface="DejaVu Sans"/>
                <a:ea typeface="DejaVu Sans"/>
                <a:cs typeface="DejaVu Sans"/>
              </a:defRPr>
            </a:defPPr>
          </a:lstStyle>
          <a:p xmlns:a="http://schemas.openxmlformats.org/drawingml/2006/main">
            <a:pPr>
              <a:defRPr sz="2175" b="1">
                <a:solidFill>
                  <a:srgbClr val="2D7155"/>
                </a:solidFill>
                <a:latin typeface="DejaVu Sans"/>
                <a:ea typeface="DejaVu Sans"/>
                <a:cs typeface="DejaVu Sans"/>
              </a:defRPr>
            </a:pPr>
            <a:r>
              <a:rPr sz="2175" b="1">
                <a:solidFill>
                  <a:srgbClr val="2D7155"/>
                </a:solidFill>
                <a:latin typeface="DejaVu Sans"/>
                <a:ea typeface="DejaVu Sans"/>
                <a:cs typeface="DejaVu Sans"/>
              </a:rPr>
              <a:t>Evaluation scope</a:t>
            </a:r>
          </a:p>
        </p:txBody>
      </p:sp>
      <p:sp>
        <p:nvSpPr>
          <p:cNvPr id="5" name="body">
            <a:extLst xmlns:a="http://schemas.openxmlformats.org/drawingml/2006/main">
              <a:ext uri="{FF2B5EF4-FFF2-40B4-BE49-F238E27FC236}">
                <a16:creationId xmlns:a16="http://schemas.microsoft.com/office/drawing/2014/main" id="{DF88351B-78D7-439C-B9DF-23DDFD75600D}"/>
              </a:ext>
            </a:extLst>
          </p:cNvPr>
          <p:cNvSpPr>
            <a:spLocks xmlns:a="http://schemas.openxmlformats.org/drawingml/2006/main" noGrp="1"/>
          </p:cNvSpPr>
          <p:nvPr/>
        </p:nvSpPr>
        <p:spPr>
          <a:xfrm xmlns:a="http://schemas.openxmlformats.org/drawingml/2006/main">
            <a:off x="609600" y="57054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183B2E"/>
                </a:solidFill>
                <a:latin typeface="DejaVu Sans"/>
                <a:ea typeface="DejaVu Sans"/>
                <a:cs typeface="DejaVu Sans"/>
              </a:defRPr>
            </a:defPPr>
          </a:lstStyle>
          <a:p xmlns:a="http://schemas.openxmlformats.org/drawingml/2006/main">
            <a:pPr>
              <a:defRPr sz="1800" b="0">
                <a:solidFill>
                  <a:srgbClr val="183B2E"/>
                </a:solidFill>
                <a:latin typeface="DejaVu Sans"/>
                <a:ea typeface="DejaVu Sans"/>
                <a:cs typeface="DejaVu Sans"/>
              </a:defRPr>
            </a:pPr>
            <a:r>
              <a:rPr sz="1800" b="0">
                <a:solidFill>
                  <a:srgbClr val="183B2E"/>
                </a:solidFill>
                <a:latin typeface="DejaVu Sans"/>
                <a:ea typeface="DejaVu Sans"/>
                <a:cs typeface="DejaVu Sans"/>
              </a:rPr>
              <a:t>24 synthetic sanity cases. Loaded CPU model. Network fetch excluded.</a:t>
            </a:r>
          </a:p>
        </p:txBody>
      </p:sp>
      <p:sp>
        <p:nvSpPr>
          <p:cNvPr id="6" name="body">
            <a:extLst xmlns:a="http://schemas.openxmlformats.org/drawingml/2006/main">
              <a:ext uri="{FF2B5EF4-FFF2-40B4-BE49-F238E27FC236}">
                <a16:creationId xmlns:a16="http://schemas.microsoft.com/office/drawing/2014/main" id="{3F5BB9C0-DC83-4AE2-B06F-DD6AE97CCBE6}"/>
              </a:ext>
            </a:extLst>
          </p:cNvPr>
          <p:cNvSpPr>
            <a:spLocks xmlns:a="http://schemas.openxmlformats.org/drawingml/2006/main" noGrp="1"/>
          </p:cNvSpPr>
          <p:nvPr/>
        </p:nvSpPr>
        <p:spPr>
          <a:xfrm xmlns:a="http://schemas.openxmlformats.org/drawingml/2006/main">
            <a:off x="609600" y="61912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916327"/>
                </a:solidFill>
                <a:latin typeface="DejaVu Sans"/>
                <a:ea typeface="DejaVu Sans"/>
                <a:cs typeface="DejaVu Sans"/>
              </a:defRPr>
            </a:defPPr>
          </a:lstStyle>
          <a:p xmlns:a="http://schemas.openxmlformats.org/drawingml/2006/main">
            <a:pPr>
              <a:defRPr sz="1725" b="0">
                <a:solidFill>
                  <a:srgbClr val="916327"/>
                </a:solidFill>
                <a:latin typeface="DejaVu Sans"/>
                <a:ea typeface="DejaVu Sans"/>
                <a:cs typeface="DejaVu Sans"/>
              </a:defRPr>
            </a:pPr>
            <a:r>
              <a:rPr sz="1725" b="0">
                <a:solidFill>
                  <a:srgbClr val="916327"/>
                </a:solidFill>
                <a:latin typeface="DejaVu Sans"/>
                <a:ea typeface="DejaVu Sans"/>
                <a:cs typeface="DejaVu Sans"/>
              </a:rPr>
              <a:t>Real-news accuracy, market impact and portfolio returns need further validation.</a:t>
            </a:r>
          </a:p>
        </p:txBody>
      </p:sp>
    </p:spTree>
    <p:extLst>
      <p:ext uri="{BB962C8B-B14F-4D97-AF65-F5344CB8AC3E}">
        <p14:creationId xmlns:p14="http://schemas.microsoft.com/office/powerpoint/2010/main" val="694111329"/>
      </p:ext>
    </p:extLst>
  </p:cSld>
</p:sld>
</file>

<file path=ppt/slides/slide7.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4B3EE62D-3BA9-4E71-944B-94F37DD14D5D}"/>
              </a:ext>
            </a:extLst>
          </p:cNvPr>
          <p:cNvSpPr>
            <a:spLocks xmlns:a="http://schemas.openxmlformats.org/drawingml/2006/main" noGrp="1"/>
          </p:cNvSpPr>
          <p:nvPr/>
        </p:nvSpPr>
        <p:spPr>
          <a:xfrm xmlns:a="http://schemas.openxmlformats.org/drawingml/2006/main">
            <a:off x="609600" y="4953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183B2E"/>
                </a:solidFill>
                <a:latin typeface="DejaVu Sans"/>
                <a:ea typeface="DejaVu Sans"/>
                <a:cs typeface="DejaVu Sans"/>
              </a:defRPr>
            </a:defPPr>
          </a:lstStyle>
          <a:p xmlns:a="http://schemas.openxmlformats.org/drawingml/2006/main">
            <a:pPr>
              <a:defRPr sz="3375" b="1">
                <a:solidFill>
                  <a:srgbClr val="183B2E"/>
                </a:solidFill>
                <a:latin typeface="DejaVu Sans"/>
                <a:ea typeface="DejaVu Sans"/>
                <a:cs typeface="DejaVu Sans"/>
              </a:defRPr>
            </a:pPr>
            <a:r>
              <a:rPr sz="3375" b="1">
                <a:solidFill>
                  <a:srgbClr val="183B2E"/>
                </a:solidFill>
                <a:latin typeface="DejaVu Sans"/>
                <a:ea typeface="DejaVu Sans"/>
                <a:cs typeface="DejaVu Sans"/>
              </a:rPr>
              <a:t>Challenges and next steps</a:t>
            </a:r>
          </a:p>
        </p:txBody>
      </p:sp>
      <p:sp>
        <p:nvSpPr>
          <p:cNvPr id="2" name="folio">
            <a:extLst xmlns:a="http://schemas.openxmlformats.org/drawingml/2006/main">
              <a:ext uri="{FF2B5EF4-FFF2-40B4-BE49-F238E27FC236}">
                <a16:creationId xmlns:a16="http://schemas.microsoft.com/office/drawing/2014/main" id="{964B2BED-B0C3-4830-AC94-3BACE7599BBE}"/>
              </a:ext>
            </a:extLst>
          </p:cNvPr>
          <p:cNvSpPr>
            <a:spLocks xmlns:a="http://schemas.openxmlformats.org/drawingml/2006/main" noGrp="1"/>
          </p:cNvSpPr>
          <p:nvPr/>
        </p:nvSpPr>
        <p:spPr>
          <a:xfrm xmlns:a="http://schemas.openxmlformats.org/drawingml/2006/main">
            <a:off x="11334750" y="6362700"/>
            <a:ext cx="28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6665B"/>
                </a:solidFill>
                <a:latin typeface="DejaVu Sans"/>
                <a:ea typeface="DejaVu Sans"/>
                <a:cs typeface="DejaVu Sans"/>
              </a:defRPr>
            </a:defPPr>
          </a:lstStyle>
          <a:p xmlns:a="http://schemas.openxmlformats.org/drawingml/2006/main">
            <a:pPr>
              <a:defRPr sz="1350" b="0">
                <a:solidFill>
                  <a:srgbClr val="56665B"/>
                </a:solidFill>
                <a:latin typeface="DejaVu Sans"/>
                <a:ea typeface="DejaVu Sans"/>
                <a:cs typeface="DejaVu Sans"/>
              </a:defRPr>
            </a:pPr>
            <a:r>
              <a:rPr sz="1350" b="0">
                <a:solidFill>
                  <a:srgbClr val="56665B"/>
                </a:solidFill>
                <a:latin typeface="DejaVu Sans"/>
                <a:ea typeface="DejaVu Sans"/>
                <a:cs typeface="DejaVu Sans"/>
              </a:rPr>
              <a:t>7</a:t>
            </a:r>
          </a:p>
        </p:txBody>
      </p:sp>
      <p:sp>
        <p:nvSpPr>
          <p:cNvPr id="3" name="body">
            <a:extLst xmlns:a="http://schemas.openxmlformats.org/drawingml/2006/main">
              <a:ext uri="{FF2B5EF4-FFF2-40B4-BE49-F238E27FC236}">
                <a16:creationId xmlns:a16="http://schemas.microsoft.com/office/drawing/2014/main" id="{DBB1ACB3-CC11-4DA5-9D08-D6F6198EFDD5}"/>
              </a:ext>
            </a:extLst>
          </p:cNvPr>
          <p:cNvSpPr>
            <a:spLocks xmlns:a="http://schemas.openxmlformats.org/drawingml/2006/main" noGrp="1"/>
          </p:cNvSpPr>
          <p:nvPr/>
        </p:nvSpPr>
        <p:spPr>
          <a:xfrm xmlns:a="http://schemas.openxmlformats.org/drawingml/2006/main">
            <a:off x="609600" y="15716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2D7155"/>
                </a:solidFill>
                <a:latin typeface="DejaVu Sans"/>
                <a:ea typeface="DejaVu Sans"/>
                <a:cs typeface="DejaVu Sans"/>
              </a:defRPr>
            </a:defPPr>
          </a:lstStyle>
          <a:p xmlns:a="http://schemas.openxmlformats.org/drawingml/2006/main">
            <a:pPr>
              <a:defRPr sz="2475" b="1">
                <a:solidFill>
                  <a:srgbClr val="2D7155"/>
                </a:solidFill>
                <a:latin typeface="DejaVu Sans"/>
                <a:ea typeface="DejaVu Sans"/>
                <a:cs typeface="DejaVu Sans"/>
              </a:defRPr>
            </a:pPr>
            <a:r>
              <a:rPr sz="2475" b="1">
                <a:solidFill>
                  <a:srgbClr val="2D7155"/>
                </a:solidFill>
                <a:latin typeface="DejaVu Sans"/>
                <a:ea typeface="DejaVu Sans"/>
                <a:cs typeface="DejaVu Sans"/>
              </a:rPr>
              <a:t>Operational challenges</a:t>
            </a:r>
          </a:p>
        </p:txBody>
      </p:sp>
      <p:sp>
        <p:nvSpPr>
          <p:cNvPr id="4" name="body">
            <a:extLst xmlns:a="http://schemas.openxmlformats.org/drawingml/2006/main">
              <a:ext uri="{FF2B5EF4-FFF2-40B4-BE49-F238E27FC236}">
                <a16:creationId xmlns:a16="http://schemas.microsoft.com/office/drawing/2014/main" id="{7CD815B3-0C9D-4D26-BF32-21241C52AA52}"/>
              </a:ext>
            </a:extLst>
          </p:cNvPr>
          <p:cNvSpPr>
            <a:spLocks xmlns:a="http://schemas.openxmlformats.org/drawingml/2006/main" noGrp="1"/>
          </p:cNvSpPr>
          <p:nvPr/>
        </p:nvSpPr>
        <p:spPr>
          <a:xfrm xmlns:a="http://schemas.openxmlformats.org/drawingml/2006/main">
            <a:off x="609600" y="2266950"/>
            <a:ext cx="5000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83B2E"/>
                </a:solidFill>
                <a:latin typeface="DejaVu Sans"/>
                <a:ea typeface="DejaVu Sans"/>
                <a:cs typeface="DejaVu Sans"/>
              </a:defRPr>
            </a:defPPr>
          </a:lstStyle>
          <a:p xmlns:a="http://schemas.openxmlformats.org/drawingml/2006/main">
            <a:pPr>
              <a:defRPr sz="2100" b="0">
                <a:solidFill>
                  <a:srgbClr val="183B2E"/>
                </a:solidFill>
                <a:latin typeface="DejaVu Sans"/>
                <a:ea typeface="DejaVu Sans"/>
                <a:cs typeface="DejaVu Sans"/>
              </a:defRPr>
            </a:pPr>
            <a:r>
              <a:rPr sz="2100" b="0">
                <a:solidFill>
                  <a:srgbClr val="183B2E"/>
                </a:solidFill>
                <a:latin typeface="DejaVu Sans"/>
                <a:ea typeface="DejaVu Sans"/>
                <a:cs typeface="DejaVu Sans"/>
              </a:rPr>
              <a:t>Repeated provider headlines</a:t>
            </a:r>
          </a:p>
          <a:p xmlns:a="http://schemas.openxmlformats.org/drawingml/2006/main">
            <a:pPr>
              <a:defRPr sz="2100" b="0">
                <a:solidFill>
                  <a:srgbClr val="183B2E"/>
                </a:solidFill>
                <a:latin typeface="DejaVu Sans"/>
                <a:ea typeface="DejaVu Sans"/>
                <a:cs typeface="DejaVu Sans"/>
              </a:defRPr>
            </a:pPr>
            <a:r>
              <a:rPr sz="2100" b="0">
                <a:solidFill>
                  <a:srgbClr val="183B2E"/>
                </a:solidFill>
                <a:latin typeface="DejaVu Sans"/>
                <a:ea typeface="DejaVu Sans"/>
                <a:cs typeface="DejaVu Sans"/>
              </a:rPr>
              <a:t>Fingerprints suppress duplicates.</a:t>
            </a:r>
          </a:p>
        </p:txBody>
      </p:sp>
      <p:sp>
        <p:nvSpPr>
          <p:cNvPr id="5" name="body">
            <a:extLst xmlns:a="http://schemas.openxmlformats.org/drawingml/2006/main">
              <a:ext uri="{FF2B5EF4-FFF2-40B4-BE49-F238E27FC236}">
                <a16:creationId xmlns:a16="http://schemas.microsoft.com/office/drawing/2014/main" id="{2BF02025-7229-4780-8AAD-7A828A70D84A}"/>
              </a:ext>
            </a:extLst>
          </p:cNvPr>
          <p:cNvSpPr>
            <a:spLocks xmlns:a="http://schemas.openxmlformats.org/drawingml/2006/main" noGrp="1"/>
          </p:cNvSpPr>
          <p:nvPr/>
        </p:nvSpPr>
        <p:spPr>
          <a:xfrm xmlns:a="http://schemas.openxmlformats.org/drawingml/2006/main">
            <a:off x="609600" y="3429000"/>
            <a:ext cx="5000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83B2E"/>
                </a:solidFill>
                <a:latin typeface="DejaVu Sans"/>
                <a:ea typeface="DejaVu Sans"/>
                <a:cs typeface="DejaVu Sans"/>
              </a:defRPr>
            </a:defPPr>
          </a:lstStyle>
          <a:p xmlns:a="http://schemas.openxmlformats.org/drawingml/2006/main">
            <a:pPr>
              <a:defRPr sz="2100" b="0">
                <a:solidFill>
                  <a:srgbClr val="183B2E"/>
                </a:solidFill>
                <a:latin typeface="DejaVu Sans"/>
                <a:ea typeface="DejaVu Sans"/>
                <a:cs typeface="DejaVu Sans"/>
              </a:defRPr>
            </a:pPr>
            <a:r>
              <a:rPr sz="2100" b="0">
                <a:solidFill>
                  <a:srgbClr val="183B2E"/>
                </a:solidFill>
                <a:latin typeface="DejaVu Sans"/>
                <a:ea typeface="DejaVu Sans"/>
                <a:cs typeface="DejaVu Sans"/>
              </a:rPr>
              <a:t>Mixed company context</a:t>
            </a:r>
          </a:p>
          <a:p xmlns:a="http://schemas.openxmlformats.org/drawingml/2006/main">
            <a:pPr>
              <a:defRPr sz="2100" b="0">
                <a:solidFill>
                  <a:srgbClr val="183B2E"/>
                </a:solidFill>
                <a:latin typeface="DejaVu Sans"/>
                <a:ea typeface="DejaVu Sans"/>
                <a:cs typeface="DejaVu Sans"/>
              </a:defRPr>
            </a:pPr>
            <a:r>
              <a:rPr sz="2100" b="0">
                <a:solidFill>
                  <a:srgbClr val="183B2E"/>
                </a:solidFill>
                <a:latin typeface="DejaVu Sans"/>
                <a:ea typeface="DejaVu Sans"/>
                <a:cs typeface="DejaVu Sans"/>
              </a:rPr>
              <a:t>Shared context cannot tilt stocks.</a:t>
            </a:r>
          </a:p>
        </p:txBody>
      </p:sp>
      <p:sp>
        <p:nvSpPr>
          <p:cNvPr id="6" name="body">
            <a:extLst xmlns:a="http://schemas.openxmlformats.org/drawingml/2006/main">
              <a:ext uri="{FF2B5EF4-FFF2-40B4-BE49-F238E27FC236}">
                <a16:creationId xmlns:a16="http://schemas.microsoft.com/office/drawing/2014/main" id="{D2F45668-53E4-4A57-9DC5-0E647DE56053}"/>
              </a:ext>
            </a:extLst>
          </p:cNvPr>
          <p:cNvSpPr>
            <a:spLocks xmlns:a="http://schemas.openxmlformats.org/drawingml/2006/main" noGrp="1"/>
          </p:cNvSpPr>
          <p:nvPr/>
        </p:nvSpPr>
        <p:spPr>
          <a:xfrm xmlns:a="http://schemas.openxmlformats.org/drawingml/2006/main">
            <a:off x="609600" y="4610100"/>
            <a:ext cx="5000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83B2E"/>
                </a:solidFill>
                <a:latin typeface="DejaVu Sans"/>
                <a:ea typeface="DejaVu Sans"/>
                <a:cs typeface="DejaVu Sans"/>
              </a:defRPr>
            </a:defPPr>
          </a:lstStyle>
          <a:p xmlns:a="http://schemas.openxmlformats.org/drawingml/2006/main">
            <a:pPr>
              <a:defRPr sz="2100" b="0">
                <a:solidFill>
                  <a:srgbClr val="183B2E"/>
                </a:solidFill>
                <a:latin typeface="DejaVu Sans"/>
                <a:ea typeface="DejaVu Sans"/>
                <a:cs typeface="DejaVu Sans"/>
              </a:defRPr>
            </a:pPr>
            <a:r>
              <a:rPr sz="2100" b="0">
                <a:solidFill>
                  <a:srgbClr val="183B2E"/>
                </a:solidFill>
                <a:latin typeface="DejaVu Sans"/>
                <a:ea typeface="DejaVu Sans"/>
                <a:cs typeface="DejaVu Sans"/>
              </a:rPr>
              <a:t>Unavailable feed or model</a:t>
            </a:r>
          </a:p>
          <a:p xmlns:a="http://schemas.openxmlformats.org/drawingml/2006/main">
            <a:pPr>
              <a:defRPr sz="2100" b="0">
                <a:solidFill>
                  <a:srgbClr val="183B2E"/>
                </a:solidFill>
                <a:latin typeface="DejaVu Sans"/>
                <a:ea typeface="DejaVu Sans"/>
                <a:cs typeface="DejaVu Sans"/>
              </a:defRPr>
            </a:pPr>
            <a:r>
              <a:rPr sz="2100" b="0">
                <a:solidFill>
                  <a:srgbClr val="183B2E"/>
                </a:solidFill>
                <a:latin typeface="DejaVu Sans"/>
                <a:ea typeface="DejaVu Sans"/>
                <a:cs typeface="DejaVu Sans"/>
              </a:rPr>
              <a:t>Visible errors and fallback status.</a:t>
            </a:r>
          </a:p>
        </p:txBody>
      </p:sp>
      <p:sp>
        <p:nvSpPr>
          <p:cNvPr id="7" name="body">
            <a:extLst xmlns:a="http://schemas.openxmlformats.org/drawingml/2006/main">
              <a:ext uri="{FF2B5EF4-FFF2-40B4-BE49-F238E27FC236}">
                <a16:creationId xmlns:a16="http://schemas.microsoft.com/office/drawing/2014/main" id="{1726F070-40D9-4124-A60B-BE5823507098}"/>
              </a:ext>
            </a:extLst>
          </p:cNvPr>
          <p:cNvSpPr>
            <a:spLocks xmlns:a="http://schemas.openxmlformats.org/drawingml/2006/main" noGrp="1"/>
          </p:cNvSpPr>
          <p:nvPr/>
        </p:nvSpPr>
        <p:spPr>
          <a:xfrm xmlns:a="http://schemas.openxmlformats.org/drawingml/2006/main">
            <a:off x="6438900" y="1571625"/>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2D7155"/>
                </a:solidFill>
                <a:latin typeface="DejaVu Sans"/>
                <a:ea typeface="DejaVu Sans"/>
                <a:cs typeface="DejaVu Sans"/>
              </a:defRPr>
            </a:defPPr>
          </a:lstStyle>
          <a:p xmlns:a="http://schemas.openxmlformats.org/drawingml/2006/main">
            <a:pPr>
              <a:defRPr sz="2475" b="1">
                <a:solidFill>
                  <a:srgbClr val="2D7155"/>
                </a:solidFill>
                <a:latin typeface="DejaVu Sans"/>
                <a:ea typeface="DejaVu Sans"/>
                <a:cs typeface="DejaVu Sans"/>
              </a:defRPr>
            </a:pPr>
            <a:r>
              <a:rPr sz="2475" b="1">
                <a:solidFill>
                  <a:srgbClr val="2D7155"/>
                </a:solidFill>
                <a:latin typeface="DejaVu Sans"/>
                <a:ea typeface="DejaVu Sans"/>
                <a:cs typeface="DejaVu Sans"/>
              </a:rPr>
              <a:t>Further work</a:t>
            </a:r>
          </a:p>
        </p:txBody>
      </p:sp>
      <p:sp>
        <p:nvSpPr>
          <p:cNvPr id="8" name="body">
            <a:extLst xmlns:a="http://schemas.openxmlformats.org/drawingml/2006/main">
              <a:ext uri="{FF2B5EF4-FFF2-40B4-BE49-F238E27FC236}">
                <a16:creationId xmlns:a16="http://schemas.microsoft.com/office/drawing/2014/main" id="{E07B3080-8D30-4ADF-8DE6-0C34DD4E423F}"/>
              </a:ext>
            </a:extLst>
          </p:cNvPr>
          <p:cNvSpPr>
            <a:spLocks xmlns:a="http://schemas.openxmlformats.org/drawingml/2006/main" noGrp="1"/>
          </p:cNvSpPr>
          <p:nvPr/>
        </p:nvSpPr>
        <p:spPr>
          <a:xfrm xmlns:a="http://schemas.openxmlformats.org/drawingml/2006/main">
            <a:off x="6438900" y="2266950"/>
            <a:ext cx="5143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83B2E"/>
                </a:solidFill>
                <a:latin typeface="DejaVu Sans"/>
                <a:ea typeface="DejaVu Sans"/>
                <a:cs typeface="DejaVu Sans"/>
              </a:defRPr>
            </a:defPPr>
          </a:lstStyle>
          <a:p xmlns:a="http://schemas.openxmlformats.org/drawingml/2006/main">
            <a:pPr>
              <a:defRPr sz="2100" b="0">
                <a:solidFill>
                  <a:srgbClr val="183B2E"/>
                </a:solidFill>
                <a:latin typeface="DejaVu Sans"/>
                <a:ea typeface="DejaVu Sans"/>
                <a:cs typeface="DejaVu Sans"/>
              </a:defRPr>
            </a:pPr>
            <a:r>
              <a:rPr sz="2100" b="0">
                <a:solidFill>
                  <a:srgbClr val="183B2E"/>
                </a:solidFill>
                <a:latin typeface="DejaVu Sans"/>
                <a:ea typeface="DejaVu Sans"/>
                <a:cs typeface="DejaVu Sans"/>
              </a:rPr>
              <a:t>Evaluate an independently</a:t>
            </a:r>
          </a:p>
          <a:p xmlns:a="http://schemas.openxmlformats.org/drawingml/2006/main">
            <a:pPr>
              <a:defRPr sz="2100" b="0">
                <a:solidFill>
                  <a:srgbClr val="183B2E"/>
                </a:solidFill>
                <a:latin typeface="DejaVu Sans"/>
                <a:ea typeface="DejaVu Sans"/>
                <a:cs typeface="DejaVu Sans"/>
              </a:defRPr>
            </a:pPr>
            <a:r>
              <a:rPr sz="2100" b="0">
                <a:solidFill>
                  <a:srgbClr val="183B2E"/>
                </a:solidFill>
                <a:latin typeface="DejaVu Sans"/>
                <a:ea typeface="DejaVu Sans"/>
                <a:cs typeface="DejaVu Sans"/>
              </a:rPr>
              <a:t>labeled real-news dataset.</a:t>
            </a:r>
          </a:p>
        </p:txBody>
      </p:sp>
      <p:sp>
        <p:nvSpPr>
          <p:cNvPr id="9" name="body">
            <a:extLst xmlns:a="http://schemas.openxmlformats.org/drawingml/2006/main">
              <a:ext uri="{FF2B5EF4-FFF2-40B4-BE49-F238E27FC236}">
                <a16:creationId xmlns:a16="http://schemas.microsoft.com/office/drawing/2014/main" id="{766DB5EB-F38A-42A7-B872-24D61C11763A}"/>
              </a:ext>
            </a:extLst>
          </p:cNvPr>
          <p:cNvSpPr>
            <a:spLocks xmlns:a="http://schemas.openxmlformats.org/drawingml/2006/main" noGrp="1"/>
          </p:cNvSpPr>
          <p:nvPr/>
        </p:nvSpPr>
        <p:spPr>
          <a:xfrm xmlns:a="http://schemas.openxmlformats.org/drawingml/2006/main">
            <a:off x="6438900" y="3429000"/>
            <a:ext cx="5143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83B2E"/>
                </a:solidFill>
                <a:latin typeface="DejaVu Sans"/>
                <a:ea typeface="DejaVu Sans"/>
                <a:cs typeface="DejaVu Sans"/>
              </a:defRPr>
            </a:defPPr>
          </a:lstStyle>
          <a:p xmlns:a="http://schemas.openxmlformats.org/drawingml/2006/main">
            <a:pPr>
              <a:defRPr sz="2100" b="0">
                <a:solidFill>
                  <a:srgbClr val="183B2E"/>
                </a:solidFill>
                <a:latin typeface="DejaVu Sans"/>
                <a:ea typeface="DejaVu Sans"/>
                <a:cs typeface="DejaVu Sans"/>
              </a:defRPr>
            </a:pPr>
            <a:r>
              <a:rPr sz="2100" b="0">
                <a:solidFill>
                  <a:srgbClr val="183B2E"/>
                </a:solidFill>
                <a:latin typeface="DejaVu Sans"/>
                <a:ea typeface="DejaVu Sans"/>
                <a:cs typeface="DejaVu Sans"/>
              </a:rPr>
              <a:t>Calibrate severity and backtest</a:t>
            </a:r>
          </a:p>
          <a:p xmlns:a="http://schemas.openxmlformats.org/drawingml/2006/main">
            <a:pPr>
              <a:defRPr sz="2100" b="0">
                <a:solidFill>
                  <a:srgbClr val="183B2E"/>
                </a:solidFill>
                <a:latin typeface="DejaVu Sans"/>
                <a:ea typeface="DejaVu Sans"/>
                <a:cs typeface="DejaVu Sans"/>
              </a:defRPr>
            </a:pPr>
            <a:r>
              <a:rPr sz="2100" b="0">
                <a:solidFill>
                  <a:srgbClr val="183B2E"/>
                </a:solidFill>
                <a:latin typeface="DejaVu Sans"/>
                <a:ea typeface="DejaVu Sans"/>
                <a:cs typeface="DejaVu Sans"/>
              </a:rPr>
              <a:t>with transaction costs.</a:t>
            </a:r>
          </a:p>
        </p:txBody>
      </p:sp>
      <p:sp>
        <p:nvSpPr>
          <p:cNvPr id="10" name="body">
            <a:extLst xmlns:a="http://schemas.openxmlformats.org/drawingml/2006/main">
              <a:ext uri="{FF2B5EF4-FFF2-40B4-BE49-F238E27FC236}">
                <a16:creationId xmlns:a16="http://schemas.microsoft.com/office/drawing/2014/main" id="{47E7A6D9-54DF-45C4-B9BB-C3C3D83220CA}"/>
              </a:ext>
            </a:extLst>
          </p:cNvPr>
          <p:cNvSpPr>
            <a:spLocks xmlns:a="http://schemas.openxmlformats.org/drawingml/2006/main" noGrp="1"/>
          </p:cNvSpPr>
          <p:nvPr/>
        </p:nvSpPr>
        <p:spPr>
          <a:xfrm xmlns:a="http://schemas.openxmlformats.org/drawingml/2006/main">
            <a:off x="6438900" y="4610100"/>
            <a:ext cx="5143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83B2E"/>
                </a:solidFill>
                <a:latin typeface="DejaVu Sans"/>
                <a:ea typeface="DejaVu Sans"/>
                <a:cs typeface="DejaVu Sans"/>
              </a:defRPr>
            </a:defPPr>
          </a:lstStyle>
          <a:p xmlns:a="http://schemas.openxmlformats.org/drawingml/2006/main">
            <a:pPr>
              <a:defRPr sz="2100" b="0">
                <a:solidFill>
                  <a:srgbClr val="183B2E"/>
                </a:solidFill>
                <a:latin typeface="DejaVu Sans"/>
                <a:ea typeface="DejaVu Sans"/>
                <a:cs typeface="DejaVu Sans"/>
              </a:defRPr>
            </a:pPr>
            <a:r>
              <a:rPr sz="2100" b="0">
                <a:solidFill>
                  <a:srgbClr val="183B2E"/>
                </a:solidFill>
                <a:latin typeface="DejaVu Sans"/>
                <a:ea typeface="DejaVu Sans"/>
                <a:cs typeface="DejaVu Sans"/>
              </a:rPr>
              <a:t>Extend the event API to</a:t>
            </a:r>
          </a:p>
          <a:p xmlns:a="http://schemas.openxmlformats.org/drawingml/2006/main">
            <a:pPr>
              <a:defRPr sz="2100" b="0">
                <a:solidFill>
                  <a:srgbClr val="183B2E"/>
                </a:solidFill>
                <a:latin typeface="DejaVu Sans"/>
                <a:ea typeface="DejaVu Sans"/>
                <a:cs typeface="DejaVu Sans"/>
              </a:defRPr>
            </a:pPr>
            <a:r>
              <a:rPr sz="2100" b="0">
                <a:solidFill>
                  <a:srgbClr val="183B2E"/>
                </a:solidFill>
                <a:latin typeface="DejaVu Sans"/>
                <a:ea typeface="DejaVu Sans"/>
                <a:cs typeface="DejaVu Sans"/>
              </a:rPr>
              <a:t>Module B stress testing.</a:t>
            </a:r>
          </a:p>
        </p:txBody>
      </p:sp>
      <p:sp>
        <p:nvSpPr>
          <p:cNvPr id="11" name="body">
            <a:extLst xmlns:a="http://schemas.openxmlformats.org/drawingml/2006/main">
              <a:ext uri="{FF2B5EF4-FFF2-40B4-BE49-F238E27FC236}">
                <a16:creationId xmlns:a16="http://schemas.microsoft.com/office/drawing/2014/main" id="{37F513F9-313E-48E5-BDF0-E4A4A4599232}"/>
              </a:ext>
            </a:extLst>
          </p:cNvPr>
          <p:cNvSpPr>
            <a:spLocks xmlns:a="http://schemas.openxmlformats.org/drawingml/2006/main" noGrp="1"/>
          </p:cNvSpPr>
          <p:nvPr/>
        </p:nvSpPr>
        <p:spPr>
          <a:xfrm xmlns:a="http://schemas.openxmlformats.org/drawingml/2006/main">
            <a:off x="609600" y="61245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6665B"/>
                </a:solidFill>
                <a:latin typeface="DejaVu Sans"/>
                <a:ea typeface="DejaVu Sans"/>
                <a:cs typeface="DejaVu Sans"/>
              </a:defRPr>
            </a:defPPr>
          </a:lstStyle>
          <a:p xmlns:a="http://schemas.openxmlformats.org/drawingml/2006/main">
            <a:pPr>
              <a:defRPr sz="1725" b="0">
                <a:solidFill>
                  <a:srgbClr val="56665B"/>
                </a:solidFill>
                <a:latin typeface="DejaVu Sans"/>
                <a:ea typeface="DejaVu Sans"/>
                <a:cs typeface="DejaVu Sans"/>
              </a:defRPr>
            </a:pPr>
            <a:r>
              <a:rPr sz="1725" b="0">
                <a:solidFill>
                  <a:srgbClr val="56665B"/>
                </a:solidFill>
                <a:latin typeface="DejaVu Sans"/>
                <a:ea typeface="DejaVu Sans"/>
                <a:cs typeface="DejaVu Sans"/>
              </a:rPr>
              <a:t>AI assistance and third-party sources are disclosed in the repository.</a:t>
            </a:r>
          </a:p>
        </p:txBody>
      </p:sp>
    </p:spTree>
    <p:extLst>
      <p:ext uri="{BB962C8B-B14F-4D97-AF65-F5344CB8AC3E}">
        <p14:creationId xmlns:p14="http://schemas.microsoft.com/office/powerpoint/2010/main" val="15832504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2026-10-08T17:16:48.8710000Z</dcterms:created>
  <dcterms:modified xsi:type="dcterms:W3CDTF">2026-10-08T17:16:48.8710000Z</dcterms:modified>
</coreProperties>
</file>